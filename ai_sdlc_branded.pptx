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36576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Software Delivery Lifecycle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Engineering-Centric View  |  Enterprise AI Tools Deployment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961120" y="201168"/>
            <a:ext cx="2834640" cy="502920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0" y="2011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AI Tools  ·  6 Phases  ·  4 Pillars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PHASES — AI TOOL MAPPING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" y="1417320"/>
            <a:ext cx="1798320" cy="1554480"/>
          </a:xfrm>
          <a:prstGeom prst="rect">
            <a:avLst/>
          </a:prstGeom>
          <a:solidFill>
            <a:srgbClr val="F4F6F9"/>
          </a:solidFill>
          <a:ln w="9525">
            <a:solidFill>
              <a:srgbClr val="E8EC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417320"/>
            <a:ext cx="1798320" cy="45720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545336"/>
            <a:ext cx="274320" cy="274320"/>
          </a:xfrm>
          <a:prstGeom prst="ellipse">
            <a:avLst/>
          </a:prstGeom>
          <a:solidFill>
            <a:srgbClr val="002663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545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32104" y="1508760"/>
            <a:ext cx="1286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Planning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4632" y="1947672"/>
            <a:ext cx="1652016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1947672"/>
            <a:ext cx="1652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Rovo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84632" y="2121408"/>
            <a:ext cx="1652016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121408"/>
            <a:ext cx="1652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AI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84632" y="2295144"/>
            <a:ext cx="1652016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295144"/>
            <a:ext cx="1652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7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2368" y="1618488"/>
            <a:ext cx="164592" cy="164592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319528" y="1417320"/>
            <a:ext cx="1798320" cy="1554480"/>
          </a:xfrm>
          <a:prstGeom prst="rect">
            <a:avLst/>
          </a:prstGeom>
          <a:solidFill>
            <a:srgbClr val="F4F6F9"/>
          </a:solidFill>
          <a:ln w="9525">
            <a:solidFill>
              <a:srgbClr val="E8ECF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319528" y="1417320"/>
            <a:ext cx="1798320" cy="45720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23" name="Shape 20"/>
          <p:cNvSpPr/>
          <p:nvPr/>
        </p:nvSpPr>
        <p:spPr>
          <a:xfrm>
            <a:off x="2410968" y="1545336"/>
            <a:ext cx="274320" cy="274320"/>
          </a:xfrm>
          <a:prstGeom prst="ellipse">
            <a:avLst/>
          </a:prstGeom>
          <a:solidFill>
            <a:srgbClr val="002663"/>
          </a:solidFill>
          <a:ln/>
        </p:spPr>
      </p:sp>
      <p:sp>
        <p:nvSpPr>
          <p:cNvPr id="24" name="Text 21"/>
          <p:cNvSpPr/>
          <p:nvPr/>
        </p:nvSpPr>
        <p:spPr>
          <a:xfrm>
            <a:off x="2410968" y="1545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740152" y="1508760"/>
            <a:ext cx="1286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392680" y="1947672"/>
            <a:ext cx="1652016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392680" y="1947672"/>
            <a:ext cx="1652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2392680" y="2121408"/>
            <a:ext cx="1652016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392680" y="2121408"/>
            <a:ext cx="1652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</a:t>
            </a:r>
            <a:endParaRPr lang="en-US" sz="75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416" y="1618488"/>
            <a:ext cx="164592" cy="164592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4227576" y="1417320"/>
            <a:ext cx="1798320" cy="1554480"/>
          </a:xfrm>
          <a:prstGeom prst="rect">
            <a:avLst/>
          </a:prstGeom>
          <a:solidFill>
            <a:srgbClr val="F4F6F9"/>
          </a:solidFill>
          <a:ln w="9525">
            <a:solidFill>
              <a:srgbClr val="E8ECF1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227576" y="1417320"/>
            <a:ext cx="1798320" cy="45720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33" name="Shape 29"/>
          <p:cNvSpPr/>
          <p:nvPr/>
        </p:nvSpPr>
        <p:spPr>
          <a:xfrm>
            <a:off x="4319016" y="1545336"/>
            <a:ext cx="274320" cy="274320"/>
          </a:xfrm>
          <a:prstGeom prst="ellipse">
            <a:avLst/>
          </a:prstGeom>
          <a:solidFill>
            <a:srgbClr val="002663"/>
          </a:solidFill>
          <a:ln/>
        </p:spPr>
      </p:sp>
      <p:sp>
        <p:nvSpPr>
          <p:cNvPr id="34" name="Text 30"/>
          <p:cNvSpPr/>
          <p:nvPr/>
        </p:nvSpPr>
        <p:spPr>
          <a:xfrm>
            <a:off x="4319016" y="1545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4648200" y="1508760"/>
            <a:ext cx="1286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4300728" y="1947672"/>
            <a:ext cx="1652016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300728" y="1947672"/>
            <a:ext cx="1652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750" dirty="0"/>
          </a:p>
        </p:txBody>
      </p:sp>
      <p:sp>
        <p:nvSpPr>
          <p:cNvPr id="38" name="Shape 34"/>
          <p:cNvSpPr/>
          <p:nvPr/>
        </p:nvSpPr>
        <p:spPr>
          <a:xfrm>
            <a:off x="4300728" y="2121408"/>
            <a:ext cx="1652016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300728" y="2121408"/>
            <a:ext cx="1652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4300728" y="2295144"/>
            <a:ext cx="1652016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300728" y="2295144"/>
            <a:ext cx="1652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750" dirty="0"/>
          </a:p>
        </p:txBody>
      </p:sp>
      <p:sp>
        <p:nvSpPr>
          <p:cNvPr id="42" name="Shape 38"/>
          <p:cNvSpPr/>
          <p:nvPr/>
        </p:nvSpPr>
        <p:spPr>
          <a:xfrm>
            <a:off x="4300728" y="2468880"/>
            <a:ext cx="1652016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300728" y="2468880"/>
            <a:ext cx="1652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</a:t>
            </a:r>
            <a:endParaRPr lang="en-US" sz="750" dirty="0"/>
          </a:p>
        </p:txBody>
      </p:sp>
      <p:sp>
        <p:nvSpPr>
          <p:cNvPr id="44" name="Shape 40"/>
          <p:cNvSpPr/>
          <p:nvPr/>
        </p:nvSpPr>
        <p:spPr>
          <a:xfrm>
            <a:off x="4300728" y="2642616"/>
            <a:ext cx="1652016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300728" y="2642616"/>
            <a:ext cx="1652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4300728" y="2816352"/>
            <a:ext cx="1652016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300728" y="2816352"/>
            <a:ext cx="1652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</a:t>
            </a:r>
            <a:endParaRPr lang="en-US" sz="750" dirty="0"/>
          </a:p>
        </p:txBody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4" y="1618488"/>
            <a:ext cx="164592" cy="164592"/>
          </a:xfrm>
          <a:prstGeom prst="rect">
            <a:avLst/>
          </a:prstGeom>
        </p:spPr>
      </p:pic>
      <p:sp>
        <p:nvSpPr>
          <p:cNvPr id="49" name="Shape 44"/>
          <p:cNvSpPr/>
          <p:nvPr/>
        </p:nvSpPr>
        <p:spPr>
          <a:xfrm>
            <a:off x="6135624" y="1417320"/>
            <a:ext cx="1798320" cy="1554480"/>
          </a:xfrm>
          <a:prstGeom prst="rect">
            <a:avLst/>
          </a:prstGeom>
          <a:solidFill>
            <a:srgbClr val="F4F6F9"/>
          </a:solidFill>
          <a:ln w="9525">
            <a:solidFill>
              <a:srgbClr val="E8ECF1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6135624" y="1417320"/>
            <a:ext cx="1798320" cy="45720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51" name="Shape 46"/>
          <p:cNvSpPr/>
          <p:nvPr/>
        </p:nvSpPr>
        <p:spPr>
          <a:xfrm>
            <a:off x="6227064" y="1545336"/>
            <a:ext cx="274320" cy="274320"/>
          </a:xfrm>
          <a:prstGeom prst="ellipse">
            <a:avLst/>
          </a:prstGeom>
          <a:solidFill>
            <a:srgbClr val="002663"/>
          </a:solidFill>
          <a:ln/>
        </p:spPr>
      </p:sp>
      <p:sp>
        <p:nvSpPr>
          <p:cNvPr id="52" name="Text 47"/>
          <p:cNvSpPr/>
          <p:nvPr/>
        </p:nvSpPr>
        <p:spPr>
          <a:xfrm>
            <a:off x="6227064" y="1545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Text 48"/>
          <p:cNvSpPr/>
          <p:nvPr/>
        </p:nvSpPr>
        <p:spPr>
          <a:xfrm>
            <a:off x="6556248" y="1508760"/>
            <a:ext cx="1286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50" dirty="0"/>
          </a:p>
        </p:txBody>
      </p:sp>
      <p:sp>
        <p:nvSpPr>
          <p:cNvPr id="54" name="Shape 49"/>
          <p:cNvSpPr/>
          <p:nvPr/>
        </p:nvSpPr>
        <p:spPr>
          <a:xfrm>
            <a:off x="6208776" y="1947672"/>
            <a:ext cx="1652016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6208776" y="1947672"/>
            <a:ext cx="1652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750" dirty="0"/>
          </a:p>
        </p:txBody>
      </p:sp>
      <p:sp>
        <p:nvSpPr>
          <p:cNvPr id="56" name="Shape 51"/>
          <p:cNvSpPr/>
          <p:nvPr/>
        </p:nvSpPr>
        <p:spPr>
          <a:xfrm>
            <a:off x="6208776" y="2121408"/>
            <a:ext cx="1652016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6208776" y="2121408"/>
            <a:ext cx="1652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</a:t>
            </a:r>
            <a:endParaRPr lang="en-US" sz="750" dirty="0"/>
          </a:p>
        </p:txBody>
      </p:sp>
      <p:sp>
        <p:nvSpPr>
          <p:cNvPr id="58" name="Shape 53"/>
          <p:cNvSpPr/>
          <p:nvPr/>
        </p:nvSpPr>
        <p:spPr>
          <a:xfrm>
            <a:off x="6208776" y="2295144"/>
            <a:ext cx="1652016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6208776" y="2295144"/>
            <a:ext cx="1652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750" dirty="0"/>
          </a:p>
        </p:txBody>
      </p:sp>
      <p:pic>
        <p:nvPicPr>
          <p:cNvPr id="6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6512" y="1618488"/>
            <a:ext cx="164592" cy="164592"/>
          </a:xfrm>
          <a:prstGeom prst="rect">
            <a:avLst/>
          </a:prstGeom>
        </p:spPr>
      </p:pic>
      <p:sp>
        <p:nvSpPr>
          <p:cNvPr id="61" name="Shape 55"/>
          <p:cNvSpPr/>
          <p:nvPr/>
        </p:nvSpPr>
        <p:spPr>
          <a:xfrm>
            <a:off x="8043672" y="1417320"/>
            <a:ext cx="1798320" cy="1554480"/>
          </a:xfrm>
          <a:prstGeom prst="rect">
            <a:avLst/>
          </a:prstGeom>
          <a:solidFill>
            <a:srgbClr val="F4F6F9"/>
          </a:solidFill>
          <a:ln w="9525">
            <a:solidFill>
              <a:srgbClr val="E8ECF1"/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8043672" y="1417320"/>
            <a:ext cx="1798320" cy="45720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63" name="Shape 57"/>
          <p:cNvSpPr/>
          <p:nvPr/>
        </p:nvSpPr>
        <p:spPr>
          <a:xfrm>
            <a:off x="8135112" y="1545336"/>
            <a:ext cx="274320" cy="274320"/>
          </a:xfrm>
          <a:prstGeom prst="ellipse">
            <a:avLst/>
          </a:prstGeom>
          <a:solidFill>
            <a:srgbClr val="002663"/>
          </a:solidFill>
          <a:ln/>
        </p:spPr>
      </p:sp>
      <p:sp>
        <p:nvSpPr>
          <p:cNvPr id="64" name="Text 58"/>
          <p:cNvSpPr/>
          <p:nvPr/>
        </p:nvSpPr>
        <p:spPr>
          <a:xfrm>
            <a:off x="8135112" y="1545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5" name="Text 59"/>
          <p:cNvSpPr/>
          <p:nvPr/>
        </p:nvSpPr>
        <p:spPr>
          <a:xfrm>
            <a:off x="8464296" y="1508760"/>
            <a:ext cx="1286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Release</a:t>
            </a:r>
            <a:endParaRPr lang="en-US" sz="950" dirty="0"/>
          </a:p>
        </p:txBody>
      </p:sp>
      <p:sp>
        <p:nvSpPr>
          <p:cNvPr id="66" name="Shape 60"/>
          <p:cNvSpPr/>
          <p:nvPr/>
        </p:nvSpPr>
        <p:spPr>
          <a:xfrm>
            <a:off x="8116824" y="1947672"/>
            <a:ext cx="1652016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67" name="Text 61"/>
          <p:cNvSpPr/>
          <p:nvPr/>
        </p:nvSpPr>
        <p:spPr>
          <a:xfrm>
            <a:off x="8116824" y="1947672"/>
            <a:ext cx="1652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</a:t>
            </a:r>
            <a:endParaRPr lang="en-US" sz="750" dirty="0"/>
          </a:p>
        </p:txBody>
      </p:sp>
      <p:sp>
        <p:nvSpPr>
          <p:cNvPr id="68" name="Shape 62"/>
          <p:cNvSpPr/>
          <p:nvPr/>
        </p:nvSpPr>
        <p:spPr>
          <a:xfrm>
            <a:off x="8116824" y="2121408"/>
            <a:ext cx="1652016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69" name="Text 63"/>
          <p:cNvSpPr/>
          <p:nvPr/>
        </p:nvSpPr>
        <p:spPr>
          <a:xfrm>
            <a:off x="8116824" y="2121408"/>
            <a:ext cx="1652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</a:t>
            </a:r>
            <a:endParaRPr lang="en-US" sz="750" dirty="0"/>
          </a:p>
        </p:txBody>
      </p:sp>
      <p:pic>
        <p:nvPicPr>
          <p:cNvPr id="7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4560" y="1618488"/>
            <a:ext cx="164592" cy="164592"/>
          </a:xfrm>
          <a:prstGeom prst="rect">
            <a:avLst/>
          </a:prstGeom>
        </p:spPr>
      </p:pic>
      <p:sp>
        <p:nvSpPr>
          <p:cNvPr id="71" name="Shape 64"/>
          <p:cNvSpPr/>
          <p:nvPr/>
        </p:nvSpPr>
        <p:spPr>
          <a:xfrm>
            <a:off x="9951720" y="1417320"/>
            <a:ext cx="1798320" cy="1554480"/>
          </a:xfrm>
          <a:prstGeom prst="rect">
            <a:avLst/>
          </a:prstGeom>
          <a:solidFill>
            <a:srgbClr val="F4F6F9"/>
          </a:solidFill>
          <a:ln w="9525">
            <a:solidFill>
              <a:srgbClr val="E8ECF1"/>
            </a:solidFill>
            <a:prstDash val="solid"/>
          </a:ln>
        </p:spPr>
      </p:sp>
      <p:sp>
        <p:nvSpPr>
          <p:cNvPr id="72" name="Shape 65"/>
          <p:cNvSpPr/>
          <p:nvPr/>
        </p:nvSpPr>
        <p:spPr>
          <a:xfrm>
            <a:off x="9951720" y="1417320"/>
            <a:ext cx="1798320" cy="45720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73" name="Shape 66"/>
          <p:cNvSpPr/>
          <p:nvPr/>
        </p:nvSpPr>
        <p:spPr>
          <a:xfrm>
            <a:off x="10043160" y="1545336"/>
            <a:ext cx="274320" cy="274320"/>
          </a:xfrm>
          <a:prstGeom prst="ellipse">
            <a:avLst/>
          </a:prstGeom>
          <a:solidFill>
            <a:srgbClr val="002663"/>
          </a:solidFill>
          <a:ln/>
        </p:spPr>
      </p:sp>
      <p:sp>
        <p:nvSpPr>
          <p:cNvPr id="74" name="Text 67"/>
          <p:cNvSpPr/>
          <p:nvPr/>
        </p:nvSpPr>
        <p:spPr>
          <a:xfrm>
            <a:off x="10043160" y="1545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75" name="Text 68"/>
          <p:cNvSpPr/>
          <p:nvPr/>
        </p:nvSpPr>
        <p:spPr>
          <a:xfrm>
            <a:off x="10372344" y="1508760"/>
            <a:ext cx="1286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Ops</a:t>
            </a:r>
            <a:endParaRPr lang="en-US" sz="950" dirty="0"/>
          </a:p>
        </p:txBody>
      </p:sp>
      <p:sp>
        <p:nvSpPr>
          <p:cNvPr id="76" name="Shape 69"/>
          <p:cNvSpPr/>
          <p:nvPr/>
        </p:nvSpPr>
        <p:spPr>
          <a:xfrm>
            <a:off x="10024872" y="1947672"/>
            <a:ext cx="1652016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77" name="Text 70"/>
          <p:cNvSpPr/>
          <p:nvPr/>
        </p:nvSpPr>
        <p:spPr>
          <a:xfrm>
            <a:off x="10024872" y="1947672"/>
            <a:ext cx="1652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Moderne</a:t>
            </a:r>
            <a:endParaRPr lang="en-US" sz="750" dirty="0"/>
          </a:p>
        </p:txBody>
      </p:sp>
      <p:sp>
        <p:nvSpPr>
          <p:cNvPr id="78" name="Shape 71"/>
          <p:cNvSpPr/>
          <p:nvPr/>
        </p:nvSpPr>
        <p:spPr>
          <a:xfrm>
            <a:off x="10024872" y="2121408"/>
            <a:ext cx="1652016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79" name="Text 72"/>
          <p:cNvSpPr/>
          <p:nvPr/>
        </p:nvSpPr>
        <p:spPr>
          <a:xfrm>
            <a:off x="10024872" y="2121408"/>
            <a:ext cx="1652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Swimm</a:t>
            </a:r>
            <a:endParaRPr lang="en-US" sz="750" dirty="0"/>
          </a:p>
        </p:txBody>
      </p:sp>
      <p:sp>
        <p:nvSpPr>
          <p:cNvPr id="80" name="Shape 73"/>
          <p:cNvSpPr/>
          <p:nvPr/>
        </p:nvSpPr>
        <p:spPr>
          <a:xfrm>
            <a:off x="10024872" y="2295144"/>
            <a:ext cx="1652016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81" name="Text 74"/>
          <p:cNvSpPr/>
          <p:nvPr/>
        </p:nvSpPr>
        <p:spPr>
          <a:xfrm>
            <a:off x="10024872" y="2295144"/>
            <a:ext cx="1652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750" dirty="0"/>
          </a:p>
        </p:txBody>
      </p:sp>
      <p:sp>
        <p:nvSpPr>
          <p:cNvPr id="82" name="Shape 75"/>
          <p:cNvSpPr/>
          <p:nvPr/>
        </p:nvSpPr>
        <p:spPr>
          <a:xfrm>
            <a:off x="10024872" y="2468880"/>
            <a:ext cx="1652016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83" name="Text 76"/>
          <p:cNvSpPr/>
          <p:nvPr/>
        </p:nvSpPr>
        <p:spPr>
          <a:xfrm>
            <a:off x="10024872" y="2468880"/>
            <a:ext cx="1652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</a:t>
            </a:r>
            <a:endParaRPr lang="en-US" sz="750" dirty="0"/>
          </a:p>
        </p:txBody>
      </p:sp>
      <p:sp>
        <p:nvSpPr>
          <p:cNvPr id="84" name="Text 77"/>
          <p:cNvSpPr/>
          <p:nvPr/>
        </p:nvSpPr>
        <p:spPr>
          <a:xfrm>
            <a:off x="548640" y="30175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PILLARS — BENEFITS &amp; IMPACT</a:t>
            </a:r>
            <a:endParaRPr lang="en-US" sz="850" dirty="0"/>
          </a:p>
        </p:txBody>
      </p:sp>
      <p:sp>
        <p:nvSpPr>
          <p:cNvPr id="85" name="Shape 78"/>
          <p:cNvSpPr/>
          <p:nvPr/>
        </p:nvSpPr>
        <p:spPr>
          <a:xfrm>
            <a:off x="411480" y="3273552"/>
            <a:ext cx="2738628" cy="1920240"/>
          </a:xfrm>
          <a:prstGeom prst="rect">
            <a:avLst/>
          </a:prstGeom>
          <a:solidFill>
            <a:srgbClr val="F4F6F9"/>
          </a:solidFill>
          <a:ln w="9525">
            <a:solidFill>
              <a:srgbClr val="E8ECF1"/>
            </a:solidFill>
            <a:prstDash val="solid"/>
          </a:ln>
        </p:spPr>
      </p:sp>
      <p:sp>
        <p:nvSpPr>
          <p:cNvPr id="86" name="Shape 79"/>
          <p:cNvSpPr/>
          <p:nvPr/>
        </p:nvSpPr>
        <p:spPr>
          <a:xfrm>
            <a:off x="411480" y="3273552"/>
            <a:ext cx="45720" cy="1920240"/>
          </a:xfrm>
          <a:prstGeom prst="rect">
            <a:avLst/>
          </a:prstGeom>
          <a:solidFill>
            <a:srgbClr val="0072CE"/>
          </a:solidFill>
          <a:ln/>
        </p:spPr>
      </p:sp>
      <p:pic>
        <p:nvPicPr>
          <p:cNvPr id="8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3383280"/>
            <a:ext cx="274320" cy="274320"/>
          </a:xfrm>
          <a:prstGeom prst="rect">
            <a:avLst/>
          </a:prstGeom>
        </p:spPr>
      </p:pic>
      <p:sp>
        <p:nvSpPr>
          <p:cNvPr id="88" name="Text 80"/>
          <p:cNvSpPr/>
          <p:nvPr/>
        </p:nvSpPr>
        <p:spPr>
          <a:xfrm>
            <a:off x="905256" y="3346704"/>
            <a:ext cx="21168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Agile Planning</a:t>
            </a:r>
            <a:endParaRPr lang="en-US" sz="950" dirty="0"/>
          </a:p>
        </p:txBody>
      </p:sp>
      <p:sp>
        <p:nvSpPr>
          <p:cNvPr id="89" name="Text 81"/>
          <p:cNvSpPr/>
          <p:nvPr/>
        </p:nvSpPr>
        <p:spPr>
          <a:xfrm>
            <a:off x="576072" y="3749040"/>
            <a:ext cx="2418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AI  ·  Atlassian Rovo  ·  ChatGPT  ·  M365 Copilot</a:t>
            </a:r>
            <a:endParaRPr lang="en-US" sz="700" dirty="0"/>
          </a:p>
        </p:txBody>
      </p:sp>
      <p:sp>
        <p:nvSpPr>
          <p:cNvPr id="90" name="Text 82"/>
          <p:cNvSpPr/>
          <p:nvPr/>
        </p:nvSpPr>
        <p:spPr>
          <a:xfrm>
            <a:off x="576072" y="4050792"/>
            <a:ext cx="24185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PRDs, user stories, OKRs/KPIs. AI-driven T-shirt sizing and sprint planning reduces cycle time by bridging product-to-engineering gaps.</a:t>
            </a:r>
            <a:endParaRPr lang="en-US" sz="850" dirty="0"/>
          </a:p>
        </p:txBody>
      </p:sp>
      <p:sp>
        <p:nvSpPr>
          <p:cNvPr id="91" name="Shape 83"/>
          <p:cNvSpPr/>
          <p:nvPr/>
        </p:nvSpPr>
        <p:spPr>
          <a:xfrm>
            <a:off x="3278124" y="3273552"/>
            <a:ext cx="2738628" cy="1920240"/>
          </a:xfrm>
          <a:prstGeom prst="rect">
            <a:avLst/>
          </a:prstGeom>
          <a:solidFill>
            <a:srgbClr val="F4F6F9"/>
          </a:solidFill>
          <a:ln w="9525">
            <a:solidFill>
              <a:srgbClr val="E8ECF1"/>
            </a:solidFill>
            <a:prstDash val="solid"/>
          </a:ln>
        </p:spPr>
      </p:sp>
      <p:sp>
        <p:nvSpPr>
          <p:cNvPr id="92" name="Shape 84"/>
          <p:cNvSpPr/>
          <p:nvPr/>
        </p:nvSpPr>
        <p:spPr>
          <a:xfrm>
            <a:off x="3278124" y="3273552"/>
            <a:ext cx="45720" cy="1920240"/>
          </a:xfrm>
          <a:prstGeom prst="rect">
            <a:avLst/>
          </a:prstGeom>
          <a:solidFill>
            <a:srgbClr val="0072CE"/>
          </a:solidFill>
          <a:ln/>
        </p:spPr>
      </p:sp>
      <p:pic>
        <p:nvPicPr>
          <p:cNvPr id="9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2716" y="3383280"/>
            <a:ext cx="274320" cy="274320"/>
          </a:xfrm>
          <a:prstGeom prst="rect">
            <a:avLst/>
          </a:prstGeom>
        </p:spPr>
      </p:pic>
      <p:sp>
        <p:nvSpPr>
          <p:cNvPr id="94" name="Text 85"/>
          <p:cNvSpPr/>
          <p:nvPr/>
        </p:nvSpPr>
        <p:spPr>
          <a:xfrm>
            <a:off x="3771900" y="3346704"/>
            <a:ext cx="21168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Engineering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Development</a:t>
            </a:r>
            <a:endParaRPr lang="en-US" sz="950" dirty="0"/>
          </a:p>
        </p:txBody>
      </p:sp>
      <p:sp>
        <p:nvSpPr>
          <p:cNvPr id="95" name="Text 86"/>
          <p:cNvSpPr/>
          <p:nvPr/>
        </p:nvSpPr>
        <p:spPr>
          <a:xfrm>
            <a:off x="3442716" y="3749040"/>
            <a:ext cx="2418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 ·  Cursor  ·  Claude Code  ·  Devin  ·  Replit  ·  OpenAI Codex</a:t>
            </a:r>
            <a:endParaRPr lang="en-US" sz="700" dirty="0"/>
          </a:p>
        </p:txBody>
      </p:sp>
      <p:sp>
        <p:nvSpPr>
          <p:cNvPr id="96" name="Text 87"/>
          <p:cNvSpPr/>
          <p:nvPr/>
        </p:nvSpPr>
        <p:spPr>
          <a:xfrm>
            <a:off x="3442716" y="4050792"/>
            <a:ext cx="24185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code completion, AI pair programming, and autonomous task execution. Mass refactoring across enterprise repos accelerates velocity and modernisation.</a:t>
            </a:r>
            <a:endParaRPr lang="en-US" sz="850" dirty="0"/>
          </a:p>
        </p:txBody>
      </p:sp>
      <p:sp>
        <p:nvSpPr>
          <p:cNvPr id="97" name="Shape 88"/>
          <p:cNvSpPr/>
          <p:nvPr/>
        </p:nvSpPr>
        <p:spPr>
          <a:xfrm>
            <a:off x="6144768" y="3273552"/>
            <a:ext cx="2738628" cy="1920240"/>
          </a:xfrm>
          <a:prstGeom prst="rect">
            <a:avLst/>
          </a:prstGeom>
          <a:solidFill>
            <a:srgbClr val="F4F6F9"/>
          </a:solidFill>
          <a:ln w="9525">
            <a:solidFill>
              <a:srgbClr val="E8ECF1"/>
            </a:solidFill>
            <a:prstDash val="solid"/>
          </a:ln>
        </p:spPr>
      </p:sp>
      <p:sp>
        <p:nvSpPr>
          <p:cNvPr id="98" name="Shape 89"/>
          <p:cNvSpPr/>
          <p:nvPr/>
        </p:nvSpPr>
        <p:spPr>
          <a:xfrm>
            <a:off x="6144768" y="3273552"/>
            <a:ext cx="45720" cy="1920240"/>
          </a:xfrm>
          <a:prstGeom prst="rect">
            <a:avLst/>
          </a:prstGeom>
          <a:solidFill>
            <a:srgbClr val="0072CE"/>
          </a:solidFill>
          <a:ln/>
        </p:spPr>
      </p:sp>
      <p:pic>
        <p:nvPicPr>
          <p:cNvPr id="9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383280"/>
            <a:ext cx="274320" cy="274320"/>
          </a:xfrm>
          <a:prstGeom prst="rect">
            <a:avLst/>
          </a:prstGeom>
        </p:spPr>
      </p:pic>
      <p:sp>
        <p:nvSpPr>
          <p:cNvPr id="100" name="Text 90"/>
          <p:cNvSpPr/>
          <p:nvPr/>
        </p:nvSpPr>
        <p:spPr>
          <a:xfrm>
            <a:off x="6638544" y="3346704"/>
            <a:ext cx="21168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Engineering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Testing</a:t>
            </a:r>
            <a:endParaRPr lang="en-US" sz="950" dirty="0"/>
          </a:p>
        </p:txBody>
      </p:sp>
      <p:sp>
        <p:nvSpPr>
          <p:cNvPr id="101" name="Text 91"/>
          <p:cNvSpPr/>
          <p:nvPr/>
        </p:nvSpPr>
        <p:spPr>
          <a:xfrm>
            <a:off x="6309360" y="3749040"/>
            <a:ext cx="2418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 ·  Devin  ·  ChatGPT  ·  Moderne</a:t>
            </a:r>
            <a:endParaRPr lang="en-US" sz="700" dirty="0"/>
          </a:p>
        </p:txBody>
      </p:sp>
      <p:sp>
        <p:nvSpPr>
          <p:cNvPr id="102" name="Text 92"/>
          <p:cNvSpPr/>
          <p:nvPr/>
        </p:nvSpPr>
        <p:spPr>
          <a:xfrm>
            <a:off x="6309360" y="4050792"/>
            <a:ext cx="24185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testing with AI-authored unit tests, QA plans, and test scripts. Automated bug triage within Jira reduces defect escape rate and QE bottlenecks.</a:t>
            </a:r>
            <a:endParaRPr lang="en-US" sz="850" dirty="0"/>
          </a:p>
        </p:txBody>
      </p:sp>
      <p:sp>
        <p:nvSpPr>
          <p:cNvPr id="103" name="Shape 93"/>
          <p:cNvSpPr/>
          <p:nvPr/>
        </p:nvSpPr>
        <p:spPr>
          <a:xfrm>
            <a:off x="9011412" y="3273552"/>
            <a:ext cx="2738628" cy="1920240"/>
          </a:xfrm>
          <a:prstGeom prst="rect">
            <a:avLst/>
          </a:prstGeom>
          <a:solidFill>
            <a:srgbClr val="F4F6F9"/>
          </a:solidFill>
          <a:ln w="9525">
            <a:solidFill>
              <a:srgbClr val="E8ECF1"/>
            </a:solidFill>
            <a:prstDash val="solid"/>
          </a:ln>
        </p:spPr>
      </p:sp>
      <p:sp>
        <p:nvSpPr>
          <p:cNvPr id="104" name="Shape 94"/>
          <p:cNvSpPr/>
          <p:nvPr/>
        </p:nvSpPr>
        <p:spPr>
          <a:xfrm>
            <a:off x="9011412" y="3273552"/>
            <a:ext cx="45720" cy="1920240"/>
          </a:xfrm>
          <a:prstGeom prst="rect">
            <a:avLst/>
          </a:prstGeom>
          <a:solidFill>
            <a:srgbClr val="0072CE"/>
          </a:solidFill>
          <a:ln/>
        </p:spPr>
      </p:sp>
      <p:pic>
        <p:nvPicPr>
          <p:cNvPr id="10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6004" y="3383280"/>
            <a:ext cx="274320" cy="274320"/>
          </a:xfrm>
          <a:prstGeom prst="rect">
            <a:avLst/>
          </a:prstGeom>
        </p:spPr>
      </p:pic>
      <p:sp>
        <p:nvSpPr>
          <p:cNvPr id="106" name="Text 95"/>
          <p:cNvSpPr/>
          <p:nvPr/>
        </p:nvSpPr>
        <p:spPr>
          <a:xfrm>
            <a:off x="9505188" y="3346704"/>
            <a:ext cx="21168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Documentation</a:t>
            </a:r>
            <a:endParaRPr lang="en-US" sz="950" dirty="0"/>
          </a:p>
        </p:txBody>
      </p:sp>
      <p:sp>
        <p:nvSpPr>
          <p:cNvPr id="107" name="Text 96"/>
          <p:cNvSpPr/>
          <p:nvPr/>
        </p:nvSpPr>
        <p:spPr>
          <a:xfrm>
            <a:off x="9176004" y="3749040"/>
            <a:ext cx="2418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Swimm  ·  M365 Copilot  ·  Atlassian Rovo  ·  ChatGPT</a:t>
            </a:r>
            <a:endParaRPr lang="en-US" sz="700" dirty="0"/>
          </a:p>
        </p:txBody>
      </p:sp>
      <p:sp>
        <p:nvSpPr>
          <p:cNvPr id="108" name="Text 97"/>
          <p:cNvSpPr/>
          <p:nvPr/>
        </p:nvSpPr>
        <p:spPr>
          <a:xfrm>
            <a:off x="9176004" y="4050792"/>
            <a:ext cx="24185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code-doc sync, NL codebase Q&amp;A, and cross-platform search (Slack, Jira, GitHub). Auto-draft stakeholder comms and wiki summaries.</a:t>
            </a:r>
            <a:endParaRPr lang="en-US" sz="850" dirty="0"/>
          </a:p>
        </p:txBody>
      </p:sp>
      <p:sp>
        <p:nvSpPr>
          <p:cNvPr id="109" name="Shape 98"/>
          <p:cNvSpPr/>
          <p:nvPr/>
        </p:nvSpPr>
        <p:spPr>
          <a:xfrm>
            <a:off x="0" y="5257800"/>
            <a:ext cx="12161520" cy="12344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10" name="Shape 99"/>
          <p:cNvSpPr/>
          <p:nvPr/>
        </p:nvSpPr>
        <p:spPr>
          <a:xfrm>
            <a:off x="0" y="5257800"/>
            <a:ext cx="1216152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11" name="Text 100"/>
          <p:cNvSpPr/>
          <p:nvPr/>
        </p:nvSpPr>
        <p:spPr>
          <a:xfrm>
            <a:off x="548640" y="5330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DELIVERY IMPACT</a:t>
            </a:r>
            <a:endParaRPr lang="en-US" sz="850" dirty="0"/>
          </a:p>
        </p:txBody>
      </p:sp>
      <p:sp>
        <p:nvSpPr>
          <p:cNvPr id="112" name="Shape 101"/>
          <p:cNvSpPr/>
          <p:nvPr/>
        </p:nvSpPr>
        <p:spPr>
          <a:xfrm>
            <a:off x="411480" y="5577840"/>
            <a:ext cx="17983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113" name="Shape 102"/>
          <p:cNvSpPr/>
          <p:nvPr/>
        </p:nvSpPr>
        <p:spPr>
          <a:xfrm>
            <a:off x="411480" y="5577840"/>
            <a:ext cx="1798320" cy="32004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114" name="Text 103"/>
          <p:cNvSpPr/>
          <p:nvPr/>
        </p:nvSpPr>
        <p:spPr>
          <a:xfrm>
            <a:off x="411480" y="5650992"/>
            <a:ext cx="179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6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40-60%</a:t>
            </a:r>
            <a:endParaRPr lang="en-US" sz="2200" dirty="0"/>
          </a:p>
        </p:txBody>
      </p:sp>
      <p:sp>
        <p:nvSpPr>
          <p:cNvPr id="115" name="Text 104"/>
          <p:cNvSpPr/>
          <p:nvPr/>
        </p:nvSpPr>
        <p:spPr>
          <a:xfrm>
            <a:off x="411480" y="5961888"/>
            <a:ext cx="179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Code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800" dirty="0"/>
          </a:p>
        </p:txBody>
      </p:sp>
      <p:sp>
        <p:nvSpPr>
          <p:cNvPr id="116" name="Shape 105"/>
          <p:cNvSpPr/>
          <p:nvPr/>
        </p:nvSpPr>
        <p:spPr>
          <a:xfrm>
            <a:off x="2319528" y="5577840"/>
            <a:ext cx="17983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117" name="Shape 106"/>
          <p:cNvSpPr/>
          <p:nvPr/>
        </p:nvSpPr>
        <p:spPr>
          <a:xfrm>
            <a:off x="2319528" y="5577840"/>
            <a:ext cx="1798320" cy="32004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118" name="Text 107"/>
          <p:cNvSpPr/>
          <p:nvPr/>
        </p:nvSpPr>
        <p:spPr>
          <a:xfrm>
            <a:off x="2319528" y="5650992"/>
            <a:ext cx="179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6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30-50%</a:t>
            </a:r>
            <a:endParaRPr lang="en-US" sz="2200" dirty="0"/>
          </a:p>
        </p:txBody>
      </p:sp>
      <p:sp>
        <p:nvSpPr>
          <p:cNvPr id="119" name="Text 108"/>
          <p:cNvSpPr/>
          <p:nvPr/>
        </p:nvSpPr>
        <p:spPr>
          <a:xfrm>
            <a:off x="2319528" y="5961888"/>
            <a:ext cx="179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</a:t>
            </a:r>
            <a:endParaRPr lang="en-US" sz="800" dirty="0"/>
          </a:p>
        </p:txBody>
      </p:sp>
      <p:sp>
        <p:nvSpPr>
          <p:cNvPr id="120" name="Shape 109"/>
          <p:cNvSpPr/>
          <p:nvPr/>
        </p:nvSpPr>
        <p:spPr>
          <a:xfrm>
            <a:off x="4227576" y="5577840"/>
            <a:ext cx="17983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121" name="Shape 110"/>
          <p:cNvSpPr/>
          <p:nvPr/>
        </p:nvSpPr>
        <p:spPr>
          <a:xfrm>
            <a:off x="4227576" y="5577840"/>
            <a:ext cx="1798320" cy="32004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122" name="Text 111"/>
          <p:cNvSpPr/>
          <p:nvPr/>
        </p:nvSpPr>
        <p:spPr>
          <a:xfrm>
            <a:off x="4227576" y="5650992"/>
            <a:ext cx="179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6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2-3×</a:t>
            </a:r>
            <a:endParaRPr lang="en-US" sz="2200" dirty="0"/>
          </a:p>
        </p:txBody>
      </p:sp>
      <p:sp>
        <p:nvSpPr>
          <p:cNvPr id="123" name="Text 112"/>
          <p:cNvSpPr/>
          <p:nvPr/>
        </p:nvSpPr>
        <p:spPr>
          <a:xfrm>
            <a:off x="4227576" y="5961888"/>
            <a:ext cx="179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Velocity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800" dirty="0"/>
          </a:p>
        </p:txBody>
      </p:sp>
      <p:sp>
        <p:nvSpPr>
          <p:cNvPr id="124" name="Shape 113"/>
          <p:cNvSpPr/>
          <p:nvPr/>
        </p:nvSpPr>
        <p:spPr>
          <a:xfrm>
            <a:off x="6135624" y="5577840"/>
            <a:ext cx="17983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125" name="Shape 114"/>
          <p:cNvSpPr/>
          <p:nvPr/>
        </p:nvSpPr>
        <p:spPr>
          <a:xfrm>
            <a:off x="6135624" y="5577840"/>
            <a:ext cx="1798320" cy="32004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126" name="Text 115"/>
          <p:cNvSpPr/>
          <p:nvPr/>
        </p:nvSpPr>
        <p:spPr>
          <a:xfrm>
            <a:off x="6135624" y="5650992"/>
            <a:ext cx="179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6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70%+</a:t>
            </a:r>
            <a:endParaRPr lang="en-US" sz="2200" dirty="0"/>
          </a:p>
        </p:txBody>
      </p:sp>
      <p:sp>
        <p:nvSpPr>
          <p:cNvPr id="127" name="Text 116"/>
          <p:cNvSpPr/>
          <p:nvPr/>
        </p:nvSpPr>
        <p:spPr>
          <a:xfrm>
            <a:off x="6135624" y="5961888"/>
            <a:ext cx="179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Sync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800" dirty="0"/>
          </a:p>
        </p:txBody>
      </p:sp>
      <p:sp>
        <p:nvSpPr>
          <p:cNvPr id="128" name="Shape 117"/>
          <p:cNvSpPr/>
          <p:nvPr/>
        </p:nvSpPr>
        <p:spPr>
          <a:xfrm>
            <a:off x="8043672" y="5577840"/>
            <a:ext cx="17983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129" name="Shape 118"/>
          <p:cNvSpPr/>
          <p:nvPr/>
        </p:nvSpPr>
        <p:spPr>
          <a:xfrm>
            <a:off x="8043672" y="5577840"/>
            <a:ext cx="1798320" cy="32004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130" name="Text 119"/>
          <p:cNvSpPr/>
          <p:nvPr/>
        </p:nvSpPr>
        <p:spPr>
          <a:xfrm>
            <a:off x="8043672" y="5650992"/>
            <a:ext cx="179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6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50%+</a:t>
            </a:r>
            <a:endParaRPr lang="en-US" sz="2200" dirty="0"/>
          </a:p>
        </p:txBody>
      </p:sp>
      <p:sp>
        <p:nvSpPr>
          <p:cNvPr id="131" name="Text 120"/>
          <p:cNvSpPr/>
          <p:nvPr/>
        </p:nvSpPr>
        <p:spPr>
          <a:xfrm>
            <a:off x="8043672" y="5961888"/>
            <a:ext cx="179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Bug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&amp; Fix</a:t>
            </a:r>
            <a:endParaRPr lang="en-US" sz="800" dirty="0"/>
          </a:p>
        </p:txBody>
      </p:sp>
      <p:sp>
        <p:nvSpPr>
          <p:cNvPr id="132" name="Shape 121"/>
          <p:cNvSpPr/>
          <p:nvPr/>
        </p:nvSpPr>
        <p:spPr>
          <a:xfrm>
            <a:off x="9951720" y="5577840"/>
            <a:ext cx="17983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1"/>
            </a:solidFill>
            <a:prstDash val="solid"/>
          </a:ln>
        </p:spPr>
      </p:sp>
      <p:sp>
        <p:nvSpPr>
          <p:cNvPr id="133" name="Shape 122"/>
          <p:cNvSpPr/>
          <p:nvPr/>
        </p:nvSpPr>
        <p:spPr>
          <a:xfrm>
            <a:off x="9951720" y="5577840"/>
            <a:ext cx="1798320" cy="32004"/>
          </a:xfrm>
          <a:prstGeom prst="rect">
            <a:avLst/>
          </a:prstGeom>
          <a:solidFill>
            <a:srgbClr val="0072CE"/>
          </a:solidFill>
          <a:ln/>
        </p:spPr>
      </p:sp>
      <p:sp>
        <p:nvSpPr>
          <p:cNvPr id="134" name="Text 123"/>
          <p:cNvSpPr/>
          <p:nvPr/>
        </p:nvSpPr>
        <p:spPr>
          <a:xfrm>
            <a:off x="9951720" y="5650992"/>
            <a:ext cx="179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6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2200" dirty="0"/>
          </a:p>
        </p:txBody>
      </p:sp>
      <p:sp>
        <p:nvSpPr>
          <p:cNvPr id="135" name="Text 124"/>
          <p:cNvSpPr/>
          <p:nvPr/>
        </p:nvSpPr>
        <p:spPr>
          <a:xfrm>
            <a:off x="9951720" y="5961888"/>
            <a:ext cx="179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Work</a:t>
            </a:r>
            <a:endParaRPr lang="en-US" sz="800" dirty="0"/>
          </a:p>
        </p:txBody>
      </p:sp>
      <p:sp>
        <p:nvSpPr>
          <p:cNvPr id="136" name="Shape 12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137" name="Text 126"/>
          <p:cNvSpPr/>
          <p:nvPr/>
        </p:nvSpPr>
        <p:spPr>
          <a:xfrm>
            <a:off x="548640" y="6583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Center of Excellence  ·  Enterprise SDLC Gen AI Deployment Roadmap  ·  Confidential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SDLC: End-to-End Delivery Transformation</dc:title>
  <dc:subject>PptxGenJS Presentation</dc:subject>
  <dc:creator>AI Center of Excellence</dc:creator>
  <cp:lastModifiedBy>AI Center of Excellence</cp:lastModifiedBy>
  <cp:revision>1</cp:revision>
  <dcterms:created xsi:type="dcterms:W3CDTF">2026-04-02T22:40:06Z</dcterms:created>
  <dcterms:modified xsi:type="dcterms:W3CDTF">2026-04-02T22:40:06Z</dcterms:modified>
</cp:coreProperties>
</file>