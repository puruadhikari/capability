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Poppins"/>
      <p:regular r:id="rId12"/>
      <p:bold r:id="rId13"/>
      <p:italic r:id="rId14"/>
      <p:boldItalic r:id="rId15"/>
    </p:embeddedFont>
    <p:embeddedFont>
      <p:font typeface="Lato"/>
      <p:regular r:id="rId16"/>
      <p:bold r:id="rId17"/>
      <p:italic r:id="rId18"/>
      <p:boldItalic r:id="rId19"/>
    </p:embeddedFont>
    <p:embeddedFont>
      <p:font typeface="Poppins SemiBold"/>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SemiBold-regular.fntdata"/><Relationship Id="rId11" Type="http://schemas.openxmlformats.org/officeDocument/2006/relationships/slide" Target="slides/slide6.xml"/><Relationship Id="rId22" Type="http://schemas.openxmlformats.org/officeDocument/2006/relationships/font" Target="fonts/PoppinsSemiBold-italic.fntdata"/><Relationship Id="rId10" Type="http://schemas.openxmlformats.org/officeDocument/2006/relationships/slide" Target="slides/slide5.xml"/><Relationship Id="rId21" Type="http://schemas.openxmlformats.org/officeDocument/2006/relationships/font" Target="fonts/PoppinsSemiBold-bold.fntdata"/><Relationship Id="rId13" Type="http://schemas.openxmlformats.org/officeDocument/2006/relationships/font" Target="fonts/Poppins-bold.fntdata"/><Relationship Id="rId12" Type="http://schemas.openxmlformats.org/officeDocument/2006/relationships/font" Target="fonts/Poppins-regular.fntdata"/><Relationship Id="rId23" Type="http://schemas.openxmlformats.org/officeDocument/2006/relationships/font" Target="fonts/Poppi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oppins-boldItalic.fntdata"/><Relationship Id="rId14" Type="http://schemas.openxmlformats.org/officeDocument/2006/relationships/font" Target="fonts/Poppins-italic.fntdata"/><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13.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595437" y="2992784"/>
            <a:ext cx="9001125" cy="1485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875" u="none" cap="none" strike="noStrike">
                <a:solidFill>
                  <a:srgbClr val="002663"/>
                </a:solidFill>
                <a:latin typeface="Poppins"/>
                <a:ea typeface="Poppins"/>
                <a:cs typeface="Poppins"/>
                <a:sym typeface="Poppins"/>
              </a:rPr>
              <a:t>From Manual Search to Agentic Workflows</a:t>
            </a:r>
            <a:endParaRPr/>
          </a:p>
        </p:txBody>
      </p:sp>
      <p:sp>
        <p:nvSpPr>
          <p:cNvPr id="86" name="Google Shape;86;p13"/>
          <p:cNvSpPr txBox="1"/>
          <p:nvPr/>
        </p:nvSpPr>
        <p:spPr>
          <a:xfrm>
            <a:off x="1809750" y="4669184"/>
            <a:ext cx="857250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0070F2"/>
                </a:solidFill>
                <a:latin typeface="Lato"/>
                <a:ea typeface="Lato"/>
                <a:cs typeface="Lato"/>
                <a:sym typeface="Lato"/>
              </a:rPr>
              <a:t>Modernizing the Call Center Experience with GenAI</a:t>
            </a:r>
            <a:endParaRPr/>
          </a:p>
        </p:txBody>
      </p:sp>
      <p:pic>
        <p:nvPicPr>
          <p:cNvPr descr="image.png" id="87" name="Google Shape;87;p13"/>
          <p:cNvPicPr preferRelativeResize="0"/>
          <p:nvPr/>
        </p:nvPicPr>
        <p:blipFill rotWithShape="1">
          <a:blip r:embed="rId4">
            <a:alphaModFix/>
          </a:blip>
          <a:srcRect b="0" l="0" r="0" t="0"/>
          <a:stretch/>
        </p:blipFill>
        <p:spPr>
          <a:xfrm>
            <a:off x="5715000" y="1878359"/>
            <a:ext cx="762000" cy="76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571500" y="1619250"/>
            <a:ext cx="5334000" cy="4572000"/>
          </a:xfrm>
          <a:prstGeom prst="rect">
            <a:avLst/>
          </a:prstGeom>
          <a:noFill/>
          <a:ln>
            <a:noFill/>
          </a:ln>
        </p:spPr>
      </p:pic>
      <p:pic>
        <p:nvPicPr>
          <p:cNvPr descr="image.png" id="94" name="Google Shape;94;p14"/>
          <p:cNvPicPr preferRelativeResize="0"/>
          <p:nvPr/>
        </p:nvPicPr>
        <p:blipFill rotWithShape="1">
          <a:blip r:embed="rId5">
            <a:alphaModFix/>
          </a:blip>
          <a:srcRect b="0" l="0" r="0" t="0"/>
          <a:stretch/>
        </p:blipFill>
        <p:spPr>
          <a:xfrm>
            <a:off x="6286500" y="1619250"/>
            <a:ext cx="5334000" cy="4572000"/>
          </a:xfrm>
          <a:prstGeom prst="rect">
            <a:avLst/>
          </a:prstGeom>
          <a:noFill/>
          <a:ln>
            <a:noFill/>
          </a:ln>
        </p:spPr>
      </p:pic>
      <p:sp>
        <p:nvSpPr>
          <p:cNvPr id="95" name="Google Shape;95;p14"/>
          <p:cNvSpPr txBox="1"/>
          <p:nvPr/>
        </p:nvSpPr>
        <p:spPr>
          <a:xfrm>
            <a:off x="962025" y="2838450"/>
            <a:ext cx="251031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The "Before" State</a:t>
            </a:r>
            <a:endParaRPr/>
          </a:p>
        </p:txBody>
      </p:sp>
      <p:sp>
        <p:nvSpPr>
          <p:cNvPr id="96" name="Google Shape;96;p14"/>
          <p:cNvSpPr txBox="1"/>
          <p:nvPr/>
        </p:nvSpPr>
        <p:spPr>
          <a:xfrm>
            <a:off x="962025" y="3381375"/>
            <a:ext cx="45529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Agents previously had to manually navigate complex knowledge portals and read through dense documents to find specific answers while customers waited on the line.</a:t>
            </a:r>
            <a:endParaRPr/>
          </a:p>
        </p:txBody>
      </p:sp>
      <p:sp>
        <p:nvSpPr>
          <p:cNvPr id="97" name="Google Shape;97;p14"/>
          <p:cNvSpPr txBox="1"/>
          <p:nvPr/>
        </p:nvSpPr>
        <p:spPr>
          <a:xfrm>
            <a:off x="962025" y="4743450"/>
            <a:ext cx="45529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Even with early machine learning and Elastic Search, this "search-and-find" mission was tedious and created significant friction.</a:t>
            </a:r>
            <a:endParaRPr/>
          </a:p>
        </p:txBody>
      </p:sp>
      <p:sp>
        <p:nvSpPr>
          <p:cNvPr id="98" name="Google Shape;98;p14"/>
          <p:cNvSpPr txBox="1"/>
          <p:nvPr/>
        </p:nvSpPr>
        <p:spPr>
          <a:xfrm>
            <a:off x="6677025" y="2838450"/>
            <a:ext cx="243030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The RAG Solution</a:t>
            </a:r>
            <a:endParaRPr/>
          </a:p>
        </p:txBody>
      </p:sp>
      <p:sp>
        <p:nvSpPr>
          <p:cNvPr id="99" name="Google Shape;99;p14"/>
          <p:cNvSpPr txBox="1"/>
          <p:nvPr/>
        </p:nvSpPr>
        <p:spPr>
          <a:xfrm>
            <a:off x="6677025" y="3381375"/>
            <a:ext cx="45529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We evolved by adopting Retrieval Augmented Generation (RAG) to deliver smart, concise answers directly to agents via a seamless chatbot.</a:t>
            </a:r>
            <a:endParaRPr/>
          </a:p>
        </p:txBody>
      </p:sp>
      <p:sp>
        <p:nvSpPr>
          <p:cNvPr id="100" name="Google Shape;100;p14"/>
          <p:cNvSpPr txBox="1"/>
          <p:nvPr/>
        </p:nvSpPr>
        <p:spPr>
          <a:xfrm>
            <a:off x="6677025" y="4438650"/>
            <a:ext cx="45529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Instead of hunting through documents, agents simply ask questions, transforming the entire support experience into a streamlined conversation.</a:t>
            </a:r>
            <a:endParaRPr/>
          </a:p>
        </p:txBody>
      </p:sp>
      <p:pic>
        <p:nvPicPr>
          <p:cNvPr descr="image.png" id="101" name="Google Shape;101;p14"/>
          <p:cNvPicPr preferRelativeResize="0"/>
          <p:nvPr/>
        </p:nvPicPr>
        <p:blipFill rotWithShape="1">
          <a:blip r:embed="rId6">
            <a:alphaModFix/>
          </a:blip>
          <a:srcRect b="0" l="0" r="0" t="0"/>
          <a:stretch/>
        </p:blipFill>
        <p:spPr>
          <a:xfrm>
            <a:off x="962025" y="2105025"/>
            <a:ext cx="514350" cy="457200"/>
          </a:xfrm>
          <a:prstGeom prst="rect">
            <a:avLst/>
          </a:prstGeom>
          <a:noFill/>
          <a:ln>
            <a:noFill/>
          </a:ln>
        </p:spPr>
      </p:pic>
      <p:pic>
        <p:nvPicPr>
          <p:cNvPr descr="image.png" id="102" name="Google Shape;102;p14"/>
          <p:cNvPicPr preferRelativeResize="0"/>
          <p:nvPr/>
        </p:nvPicPr>
        <p:blipFill rotWithShape="1">
          <a:blip r:embed="rId7">
            <a:alphaModFix/>
          </a:blip>
          <a:srcRect b="0" l="0" r="0" t="0"/>
          <a:stretch/>
        </p:blipFill>
        <p:spPr>
          <a:xfrm>
            <a:off x="6677025" y="2105025"/>
            <a:ext cx="400050" cy="457200"/>
          </a:xfrm>
          <a:prstGeom prst="rect">
            <a:avLst/>
          </a:prstGeom>
          <a:noFill/>
          <a:ln>
            <a:noFill/>
          </a:ln>
        </p:spPr>
      </p:pic>
      <p:sp>
        <p:nvSpPr>
          <p:cNvPr id="103" name="Google Shape;103;p14"/>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002663"/>
                </a:solidFill>
                <a:latin typeface="Poppins SemiBold"/>
                <a:ea typeface="Poppins SemiBold"/>
                <a:cs typeface="Poppins SemiBold"/>
                <a:sym typeface="Poppins SemiBold"/>
              </a:rPr>
              <a:t>FROM MANUAL SEARCH TO RAG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15"/>
          <p:cNvPicPr preferRelativeResize="0"/>
          <p:nvPr/>
        </p:nvPicPr>
        <p:blipFill rotWithShape="1">
          <a:blip r:embed="rId4">
            <a:alphaModFix/>
          </a:blip>
          <a:srcRect b="0" l="0" r="0" t="0"/>
          <a:stretch/>
        </p:blipFill>
        <p:spPr>
          <a:xfrm>
            <a:off x="571500" y="1490662"/>
            <a:ext cx="3429000" cy="4829175"/>
          </a:xfrm>
          <a:prstGeom prst="rect">
            <a:avLst/>
          </a:prstGeom>
          <a:noFill/>
          <a:ln>
            <a:noFill/>
          </a:ln>
        </p:spPr>
      </p:pic>
      <p:pic>
        <p:nvPicPr>
          <p:cNvPr descr="image.png" id="110" name="Google Shape;110;p15"/>
          <p:cNvPicPr preferRelativeResize="0"/>
          <p:nvPr/>
        </p:nvPicPr>
        <p:blipFill rotWithShape="1">
          <a:blip r:embed="rId5">
            <a:alphaModFix/>
          </a:blip>
          <a:srcRect b="0" l="0" r="0" t="0"/>
          <a:stretch/>
        </p:blipFill>
        <p:spPr>
          <a:xfrm>
            <a:off x="4381500" y="1490662"/>
            <a:ext cx="3429000" cy="4829175"/>
          </a:xfrm>
          <a:prstGeom prst="rect">
            <a:avLst/>
          </a:prstGeom>
          <a:noFill/>
          <a:ln>
            <a:noFill/>
          </a:ln>
        </p:spPr>
      </p:pic>
      <p:pic>
        <p:nvPicPr>
          <p:cNvPr descr="image.png" id="111" name="Google Shape;111;p15"/>
          <p:cNvPicPr preferRelativeResize="0"/>
          <p:nvPr/>
        </p:nvPicPr>
        <p:blipFill rotWithShape="1">
          <a:blip r:embed="rId4">
            <a:alphaModFix/>
          </a:blip>
          <a:srcRect b="0" l="0" r="0" t="0"/>
          <a:stretch/>
        </p:blipFill>
        <p:spPr>
          <a:xfrm>
            <a:off x="8191500" y="1490662"/>
            <a:ext cx="3429000" cy="4829175"/>
          </a:xfrm>
          <a:prstGeom prst="rect">
            <a:avLst/>
          </a:prstGeom>
          <a:noFill/>
          <a:ln>
            <a:noFill/>
          </a:ln>
        </p:spPr>
      </p:pic>
      <p:sp>
        <p:nvSpPr>
          <p:cNvPr id="112" name="Google Shape;112;p15"/>
          <p:cNvSpPr txBox="1"/>
          <p:nvPr/>
        </p:nvSpPr>
        <p:spPr>
          <a:xfrm>
            <a:off x="962025" y="2709862"/>
            <a:ext cx="2780347"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The Redaction Paradox</a:t>
            </a:r>
            <a:endParaRPr/>
          </a:p>
        </p:txBody>
      </p:sp>
      <p:sp>
        <p:nvSpPr>
          <p:cNvPr id="113" name="Google Shape;113;p15"/>
          <p:cNvSpPr txBox="1"/>
          <p:nvPr/>
        </p:nvSpPr>
        <p:spPr>
          <a:xfrm>
            <a:off x="962025" y="3652837"/>
            <a:ext cx="2647950" cy="2133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Sending raw data to external models was impossible. However, standard redaction failed because intelligent models recognized the missing data and refused to process logic on blacked-out information.</a:t>
            </a:r>
            <a:endParaRPr/>
          </a:p>
        </p:txBody>
      </p:sp>
      <p:sp>
        <p:nvSpPr>
          <p:cNvPr id="114" name="Google Shape;114;p15"/>
          <p:cNvSpPr txBox="1"/>
          <p:nvPr/>
        </p:nvSpPr>
        <p:spPr>
          <a:xfrm>
            <a:off x="4772025" y="2709862"/>
            <a:ext cx="2780347"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Custom Masking Model</a:t>
            </a:r>
            <a:endParaRPr/>
          </a:p>
        </p:txBody>
      </p:sp>
      <p:sp>
        <p:nvSpPr>
          <p:cNvPr id="115" name="Google Shape;115;p15"/>
          <p:cNvSpPr txBox="1"/>
          <p:nvPr/>
        </p:nvSpPr>
        <p:spPr>
          <a:xfrm>
            <a:off x="4772025" y="3652837"/>
            <a:ext cx="2647950" cy="2133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We developed a proprietary masking model that formats data to realistically mimic phone numbers or names. This allows the LLM to successfully process logic without exposing genuine sensitive data.</a:t>
            </a:r>
            <a:endParaRPr/>
          </a:p>
        </p:txBody>
      </p:sp>
      <p:sp>
        <p:nvSpPr>
          <p:cNvPr id="116" name="Google Shape;116;p15"/>
          <p:cNvSpPr txBox="1"/>
          <p:nvPr/>
        </p:nvSpPr>
        <p:spPr>
          <a:xfrm>
            <a:off x="8582025" y="2709862"/>
            <a:ext cx="267033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Enterprise Security</a:t>
            </a:r>
            <a:endParaRPr/>
          </a:p>
        </p:txBody>
      </p:sp>
      <p:sp>
        <p:nvSpPr>
          <p:cNvPr id="117" name="Google Shape;117;p15"/>
          <p:cNvSpPr txBox="1"/>
          <p:nvPr/>
        </p:nvSpPr>
        <p:spPr>
          <a:xfrm>
            <a:off x="8582025" y="3252787"/>
            <a:ext cx="26479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All AI traffic is strictly routed through an Enterprise Gateway and the corporate firewall. The key takeaway: partner intimately with your enterprise security teams from day one.</a:t>
            </a:r>
            <a:endParaRPr/>
          </a:p>
        </p:txBody>
      </p:sp>
      <p:pic>
        <p:nvPicPr>
          <p:cNvPr descr="image.png" id="118" name="Google Shape;118;p15"/>
          <p:cNvPicPr preferRelativeResize="0"/>
          <p:nvPr/>
        </p:nvPicPr>
        <p:blipFill rotWithShape="1">
          <a:blip r:embed="rId6">
            <a:alphaModFix/>
          </a:blip>
          <a:srcRect b="0" l="0" r="0" t="0"/>
          <a:stretch/>
        </p:blipFill>
        <p:spPr>
          <a:xfrm>
            <a:off x="962025" y="1976437"/>
            <a:ext cx="571500" cy="457200"/>
          </a:xfrm>
          <a:prstGeom prst="rect">
            <a:avLst/>
          </a:prstGeom>
          <a:noFill/>
          <a:ln>
            <a:noFill/>
          </a:ln>
        </p:spPr>
      </p:pic>
      <p:pic>
        <p:nvPicPr>
          <p:cNvPr descr="image.png" id="119" name="Google Shape;119;p15"/>
          <p:cNvPicPr preferRelativeResize="0"/>
          <p:nvPr/>
        </p:nvPicPr>
        <p:blipFill rotWithShape="1">
          <a:blip r:embed="rId7">
            <a:alphaModFix/>
          </a:blip>
          <a:srcRect b="0" l="0" r="0" t="0"/>
          <a:stretch/>
        </p:blipFill>
        <p:spPr>
          <a:xfrm>
            <a:off x="4772025" y="1976437"/>
            <a:ext cx="514350" cy="457200"/>
          </a:xfrm>
          <a:prstGeom prst="rect">
            <a:avLst/>
          </a:prstGeom>
          <a:noFill/>
          <a:ln>
            <a:noFill/>
          </a:ln>
        </p:spPr>
      </p:pic>
      <p:pic>
        <p:nvPicPr>
          <p:cNvPr descr="image.png" id="120" name="Google Shape;120;p15"/>
          <p:cNvPicPr preferRelativeResize="0"/>
          <p:nvPr/>
        </p:nvPicPr>
        <p:blipFill rotWithShape="1">
          <a:blip r:embed="rId8">
            <a:alphaModFix/>
          </a:blip>
          <a:srcRect b="0" l="0" r="0" t="0"/>
          <a:stretch/>
        </p:blipFill>
        <p:spPr>
          <a:xfrm>
            <a:off x="8582025" y="1976437"/>
            <a:ext cx="457200" cy="457200"/>
          </a:xfrm>
          <a:prstGeom prst="rect">
            <a:avLst/>
          </a:prstGeom>
          <a:noFill/>
          <a:ln>
            <a:noFill/>
          </a:ln>
        </p:spPr>
      </p:pic>
      <p:sp>
        <p:nvSpPr>
          <p:cNvPr id="121" name="Google Shape;121;p15"/>
          <p:cNvSpPr txBox="1"/>
          <p:nvPr/>
        </p:nvSpPr>
        <p:spPr>
          <a:xfrm>
            <a:off x="571500" y="538162"/>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002663"/>
                </a:solidFill>
                <a:latin typeface="Poppins SemiBold"/>
                <a:ea typeface="Poppins SemiBold"/>
                <a:cs typeface="Poppins SemiBold"/>
                <a:sym typeface="Poppins SemiBold"/>
              </a:rPr>
              <a:t>SECURITY: DATA REDACTION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pic>
        <p:nvPicPr>
          <p:cNvPr descr="image.png" id="126" name="Google Shape;126;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7" name="Google Shape;127;p16"/>
          <p:cNvSpPr/>
          <p:nvPr/>
        </p:nvSpPr>
        <p:spPr>
          <a:xfrm>
            <a:off x="857250" y="1230808"/>
            <a:ext cx="10477500" cy="15924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6"/>
          <p:cNvSpPr txBox="1"/>
          <p:nvPr/>
        </p:nvSpPr>
        <p:spPr>
          <a:xfrm>
            <a:off x="1619250" y="1516558"/>
            <a:ext cx="9334500" cy="1020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002663"/>
                </a:solidFill>
                <a:latin typeface="Lato"/>
                <a:ea typeface="Lato"/>
                <a:cs typeface="Lato"/>
                <a:sym typeface="Lato"/>
              </a:rPr>
              <a:t>Early Engagement is Critical</a:t>
            </a:r>
            <a:r>
              <a:rPr b="0" i="0" lang="en-US" sz="1500" u="none" cap="none" strike="noStrike">
                <a:solidFill>
                  <a:srgbClr val="4D4F53"/>
                </a:solidFill>
                <a:latin typeface="Lato"/>
                <a:ea typeface="Lato"/>
                <a:cs typeface="Lato"/>
                <a:sym typeface="Lato"/>
              </a:rPr>
              <a:t> Ensure the model output is valid and free of hallucinations by engaging Model Governance and Risk teams immediately. Collect essential evidence and documentation iteratively during development.</a:t>
            </a:r>
            <a:endParaRPr/>
          </a:p>
        </p:txBody>
      </p:sp>
      <p:sp>
        <p:nvSpPr>
          <p:cNvPr id="129" name="Google Shape;129;p16"/>
          <p:cNvSpPr/>
          <p:nvPr/>
        </p:nvSpPr>
        <p:spPr>
          <a:xfrm>
            <a:off x="857250" y="1230808"/>
            <a:ext cx="57150" cy="1592460"/>
          </a:xfrm>
          <a:prstGeom prst="rect">
            <a:avLst/>
          </a:prstGeom>
          <a:solidFill>
            <a:srgbClr val="0026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6"/>
          <p:cNvSpPr/>
          <p:nvPr/>
        </p:nvSpPr>
        <p:spPr>
          <a:xfrm>
            <a:off x="857250" y="3109019"/>
            <a:ext cx="10477500" cy="15924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txBox="1"/>
          <p:nvPr/>
        </p:nvSpPr>
        <p:spPr>
          <a:xfrm>
            <a:off x="1619250" y="3394769"/>
            <a:ext cx="9334500" cy="1020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002663"/>
                </a:solidFill>
                <a:latin typeface="Lato"/>
                <a:ea typeface="Lato"/>
                <a:cs typeface="Lato"/>
                <a:sym typeface="Lato"/>
              </a:rPr>
              <a:t>Transparent Disclosures</a:t>
            </a:r>
            <a:r>
              <a:rPr b="0" i="0" lang="en-US" sz="1500" u="none" cap="none" strike="noStrike">
                <a:solidFill>
                  <a:srgbClr val="4D4F53"/>
                </a:solidFill>
                <a:latin typeface="Lato"/>
                <a:ea typeface="Lato"/>
                <a:cs typeface="Lato"/>
                <a:sym typeface="Lato"/>
              </a:rPr>
              <a:t> Our user interface includes a specifically designated icon to notify users that an answer is "AI-generated." This feature passed rigorous audit reviews to guarantee absolute operational transparency.</a:t>
            </a:r>
            <a:endParaRPr/>
          </a:p>
        </p:txBody>
      </p:sp>
      <p:sp>
        <p:nvSpPr>
          <p:cNvPr id="132" name="Google Shape;132;p16"/>
          <p:cNvSpPr/>
          <p:nvPr/>
        </p:nvSpPr>
        <p:spPr>
          <a:xfrm>
            <a:off x="857250" y="3109019"/>
            <a:ext cx="57150" cy="1592460"/>
          </a:xfrm>
          <a:prstGeom prst="rect">
            <a:avLst/>
          </a:prstGeom>
          <a:solidFill>
            <a:srgbClr val="0026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6"/>
          <p:cNvSpPr/>
          <p:nvPr/>
        </p:nvSpPr>
        <p:spPr>
          <a:xfrm>
            <a:off x="857250" y="4987230"/>
            <a:ext cx="10477500" cy="159246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1619250" y="5272980"/>
            <a:ext cx="9334500" cy="1020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002663"/>
                </a:solidFill>
                <a:latin typeface="Lato"/>
                <a:ea typeface="Lato"/>
                <a:cs typeface="Lato"/>
                <a:sym typeface="Lato"/>
              </a:rPr>
              <a:t>Safety Overrides for Complex Data</a:t>
            </a:r>
            <a:r>
              <a:rPr b="0" i="0" lang="en-US" sz="1500" u="none" cap="none" strike="noStrike">
                <a:solidFill>
                  <a:srgbClr val="4D4F53"/>
                </a:solidFill>
                <a:latin typeface="Lato"/>
                <a:ea typeface="Lato"/>
                <a:cs typeface="Lato"/>
                <a:sym typeface="Lato"/>
              </a:rPr>
              <a:t> For intricate product information where hallucination risks are unacceptable, the system bypasses generated summaries and provides a direct link to the 100% accurate official source.</a:t>
            </a:r>
            <a:endParaRPr/>
          </a:p>
        </p:txBody>
      </p:sp>
      <p:sp>
        <p:nvSpPr>
          <p:cNvPr id="135" name="Google Shape;135;p16"/>
          <p:cNvSpPr/>
          <p:nvPr/>
        </p:nvSpPr>
        <p:spPr>
          <a:xfrm>
            <a:off x="857250" y="4987230"/>
            <a:ext cx="57150" cy="1592460"/>
          </a:xfrm>
          <a:prstGeom prst="rect">
            <a:avLst/>
          </a:prstGeom>
          <a:solidFill>
            <a:srgbClr val="0026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6" name="Google Shape;136;p16"/>
          <p:cNvPicPr preferRelativeResize="0"/>
          <p:nvPr/>
        </p:nvPicPr>
        <p:blipFill rotWithShape="1">
          <a:blip r:embed="rId4">
            <a:alphaModFix/>
          </a:blip>
          <a:srcRect b="0" l="0" r="0" t="0"/>
          <a:stretch/>
        </p:blipFill>
        <p:spPr>
          <a:xfrm>
            <a:off x="1152525" y="1865114"/>
            <a:ext cx="381000" cy="323850"/>
          </a:xfrm>
          <a:prstGeom prst="rect">
            <a:avLst/>
          </a:prstGeom>
          <a:noFill/>
          <a:ln>
            <a:noFill/>
          </a:ln>
        </p:spPr>
      </p:pic>
      <p:pic>
        <p:nvPicPr>
          <p:cNvPr descr="image.png" id="137" name="Google Shape;137;p16"/>
          <p:cNvPicPr preferRelativeResize="0"/>
          <p:nvPr/>
        </p:nvPicPr>
        <p:blipFill rotWithShape="1">
          <a:blip r:embed="rId5">
            <a:alphaModFix/>
          </a:blip>
          <a:srcRect b="0" l="0" r="0" t="0"/>
          <a:stretch/>
        </p:blipFill>
        <p:spPr>
          <a:xfrm>
            <a:off x="1152525" y="3743325"/>
            <a:ext cx="304800" cy="323850"/>
          </a:xfrm>
          <a:prstGeom prst="rect">
            <a:avLst/>
          </a:prstGeom>
          <a:noFill/>
          <a:ln>
            <a:noFill/>
          </a:ln>
        </p:spPr>
      </p:pic>
      <p:pic>
        <p:nvPicPr>
          <p:cNvPr descr="image.png" id="138" name="Google Shape;138;p16"/>
          <p:cNvPicPr preferRelativeResize="0"/>
          <p:nvPr/>
        </p:nvPicPr>
        <p:blipFill rotWithShape="1">
          <a:blip r:embed="rId6">
            <a:alphaModFix/>
          </a:blip>
          <a:srcRect b="0" l="0" r="0" t="0"/>
          <a:stretch/>
        </p:blipFill>
        <p:spPr>
          <a:xfrm>
            <a:off x="1152525" y="5621535"/>
            <a:ext cx="381000" cy="323850"/>
          </a:xfrm>
          <a:prstGeom prst="rect">
            <a:avLst/>
          </a:prstGeom>
          <a:noFill/>
          <a:ln>
            <a:noFill/>
          </a:ln>
        </p:spPr>
      </p:pic>
      <p:sp>
        <p:nvSpPr>
          <p:cNvPr id="139" name="Google Shape;139;p16"/>
          <p:cNvSpPr txBox="1"/>
          <p:nvPr/>
        </p:nvSpPr>
        <p:spPr>
          <a:xfrm>
            <a:off x="571500" y="278308"/>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002663"/>
                </a:solidFill>
                <a:latin typeface="Poppins SemiBold"/>
                <a:ea typeface="Poppins SemiBold"/>
                <a:cs typeface="Poppins SemiBold"/>
                <a:sym typeface="Poppins SemiBold"/>
              </a:rPr>
              <a:t>GOVERNANCE: BLOCKER TO ENABLER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pic>
        <p:nvPicPr>
          <p:cNvPr descr="image.png" id="144" name="Google Shape;144;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5" name="Google Shape;145;p17"/>
          <p:cNvPicPr preferRelativeResize="0"/>
          <p:nvPr/>
        </p:nvPicPr>
        <p:blipFill rotWithShape="1">
          <a:blip r:embed="rId4">
            <a:alphaModFix/>
          </a:blip>
          <a:srcRect b="0" l="0" r="0" t="0"/>
          <a:stretch/>
        </p:blipFill>
        <p:spPr>
          <a:xfrm>
            <a:off x="571500" y="2143125"/>
            <a:ext cx="3867150" cy="3524250"/>
          </a:xfrm>
          <a:prstGeom prst="rect">
            <a:avLst/>
          </a:prstGeom>
          <a:noFill/>
          <a:ln>
            <a:noFill/>
          </a:ln>
        </p:spPr>
      </p:pic>
      <p:sp>
        <p:nvSpPr>
          <p:cNvPr id="146" name="Google Shape;146;p17"/>
          <p:cNvSpPr txBox="1"/>
          <p:nvPr/>
        </p:nvSpPr>
        <p:spPr>
          <a:xfrm>
            <a:off x="866775" y="2724150"/>
            <a:ext cx="3276600" cy="152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000" u="none" cap="none" strike="noStrike">
                <a:solidFill>
                  <a:srgbClr val="0070F2"/>
                </a:solidFill>
                <a:latin typeface="Poppins"/>
                <a:ea typeface="Poppins"/>
                <a:cs typeface="Poppins"/>
                <a:sym typeface="Poppins"/>
              </a:rPr>
              <a:t>100</a:t>
            </a:r>
            <a:endParaRPr/>
          </a:p>
        </p:txBody>
      </p:sp>
      <p:sp>
        <p:nvSpPr>
          <p:cNvPr id="147" name="Google Shape;147;p17"/>
          <p:cNvSpPr txBox="1"/>
          <p:nvPr/>
        </p:nvSpPr>
        <p:spPr>
          <a:xfrm>
            <a:off x="866775" y="4343400"/>
            <a:ext cx="3276600" cy="742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002663"/>
                </a:solidFill>
                <a:latin typeface="Poppins"/>
                <a:ea typeface="Poppins"/>
                <a:cs typeface="Poppins"/>
                <a:sym typeface="Poppins"/>
              </a:rPr>
              <a:t>Benchmark Questions</a:t>
            </a:r>
            <a:br>
              <a:rPr b="0" i="0" lang="en-US" sz="1800" u="none" cap="none" strike="noStrike">
                <a:solidFill>
                  <a:schemeClr val="dk1"/>
                </a:solidFill>
                <a:latin typeface="Calibri"/>
                <a:ea typeface="Calibri"/>
                <a:cs typeface="Calibri"/>
                <a:sym typeface="Calibri"/>
              </a:rPr>
            </a:br>
            <a:r>
              <a:rPr b="1" i="0" lang="en-US" sz="1950" u="none" cap="none" strike="noStrike">
                <a:solidFill>
                  <a:srgbClr val="002663"/>
                </a:solidFill>
                <a:latin typeface="Poppins"/>
                <a:ea typeface="Poppins"/>
                <a:cs typeface="Poppins"/>
                <a:sym typeface="Poppins"/>
              </a:rPr>
              <a:t> ("Golden Set")</a:t>
            </a:r>
            <a:endParaRPr/>
          </a:p>
        </p:txBody>
      </p:sp>
      <p:sp>
        <p:nvSpPr>
          <p:cNvPr id="148" name="Google Shape;148;p17"/>
          <p:cNvSpPr txBox="1"/>
          <p:nvPr/>
        </p:nvSpPr>
        <p:spPr>
          <a:xfrm>
            <a:off x="5010150" y="1620291"/>
            <a:ext cx="6540817"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A New Evaluation Matrix</a:t>
            </a:r>
            <a:endParaRPr/>
          </a:p>
        </p:txBody>
      </p:sp>
      <p:sp>
        <p:nvSpPr>
          <p:cNvPr id="149" name="Google Shape;149;p17"/>
          <p:cNvSpPr txBox="1"/>
          <p:nvPr/>
        </p:nvSpPr>
        <p:spPr>
          <a:xfrm>
            <a:off x="5010150" y="2163216"/>
            <a:ext cx="6229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To ensure updates don't break existing functionality, we moved away from traditional testing and collaborated with product teams to create a definitive "Golden Set."</a:t>
            </a:r>
            <a:endParaRPr/>
          </a:p>
        </p:txBody>
      </p:sp>
      <p:sp>
        <p:nvSpPr>
          <p:cNvPr id="150" name="Google Shape;150;p17"/>
          <p:cNvSpPr txBox="1"/>
          <p:nvPr/>
        </p:nvSpPr>
        <p:spPr>
          <a:xfrm>
            <a:off x="5010150" y="3268116"/>
            <a:ext cx="6229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We implemented a framework utilizing metrics like RAGAS to automatically verify answers in lower environments. Every prompt or model update is rigidly tested against this baseline.</a:t>
            </a:r>
            <a:endParaRPr/>
          </a:p>
        </p:txBody>
      </p:sp>
      <p:sp>
        <p:nvSpPr>
          <p:cNvPr id="151" name="Google Shape;151;p17"/>
          <p:cNvSpPr txBox="1"/>
          <p:nvPr/>
        </p:nvSpPr>
        <p:spPr>
          <a:xfrm>
            <a:off x="5010150" y="4373016"/>
            <a:ext cx="62293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If results fall below established standards, the update is immediately rejected.</a:t>
            </a:r>
            <a:endParaRPr/>
          </a:p>
        </p:txBody>
      </p:sp>
      <p:sp>
        <p:nvSpPr>
          <p:cNvPr id="152" name="Google Shape;152;p17"/>
          <p:cNvSpPr txBox="1"/>
          <p:nvPr/>
        </p:nvSpPr>
        <p:spPr>
          <a:xfrm>
            <a:off x="5010150" y="5268366"/>
            <a:ext cx="622935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0070F2"/>
                </a:solidFill>
                <a:latin typeface="Lato"/>
                <a:ea typeface="Lato"/>
                <a:cs typeface="Lato"/>
                <a:sym typeface="Lato"/>
              </a:rPr>
              <a:t>In GenAI, you must move beyond traditional methods to continuously measure "correctness."</a:t>
            </a:r>
            <a:endParaRPr/>
          </a:p>
        </p:txBody>
      </p:sp>
      <p:sp>
        <p:nvSpPr>
          <p:cNvPr id="153" name="Google Shape;153;p17"/>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002663"/>
                </a:solidFill>
                <a:latin typeface="Poppins SemiBold"/>
                <a:ea typeface="Poppins SemiBold"/>
                <a:cs typeface="Poppins SemiBold"/>
                <a:sym typeface="Poppins SemiBold"/>
              </a:rPr>
              <a:t>TESTING &amp; DEVELOPMENT FRAMEWORK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pic>
        <p:nvPicPr>
          <p:cNvPr descr="image.png" id="158" name="Google Shape;158;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9" name="Google Shape;159;p18"/>
          <p:cNvPicPr preferRelativeResize="0"/>
          <p:nvPr/>
        </p:nvPicPr>
        <p:blipFill rotWithShape="1">
          <a:blip r:embed="rId4">
            <a:alphaModFix/>
          </a:blip>
          <a:srcRect b="0" l="0" r="0" t="0"/>
          <a:stretch/>
        </p:blipFill>
        <p:spPr>
          <a:xfrm>
            <a:off x="571500" y="1843087"/>
            <a:ext cx="5334000" cy="4124325"/>
          </a:xfrm>
          <a:prstGeom prst="rect">
            <a:avLst/>
          </a:prstGeom>
          <a:noFill/>
          <a:ln>
            <a:noFill/>
          </a:ln>
        </p:spPr>
      </p:pic>
      <p:pic>
        <p:nvPicPr>
          <p:cNvPr descr="image.png" id="160" name="Google Shape;160;p18"/>
          <p:cNvPicPr preferRelativeResize="0"/>
          <p:nvPr/>
        </p:nvPicPr>
        <p:blipFill rotWithShape="1">
          <a:blip r:embed="rId5">
            <a:alphaModFix/>
          </a:blip>
          <a:srcRect b="0" l="0" r="0" t="0"/>
          <a:stretch/>
        </p:blipFill>
        <p:spPr>
          <a:xfrm>
            <a:off x="6286500" y="1843087"/>
            <a:ext cx="5334000" cy="4124325"/>
          </a:xfrm>
          <a:prstGeom prst="rect">
            <a:avLst/>
          </a:prstGeom>
          <a:noFill/>
          <a:ln>
            <a:noFill/>
          </a:ln>
        </p:spPr>
      </p:pic>
      <p:sp>
        <p:nvSpPr>
          <p:cNvPr id="161" name="Google Shape;161;p18"/>
          <p:cNvSpPr txBox="1"/>
          <p:nvPr/>
        </p:nvSpPr>
        <p:spPr>
          <a:xfrm>
            <a:off x="962025" y="3062287"/>
            <a:ext cx="2900362"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Context Engineering</a:t>
            </a:r>
            <a:endParaRPr/>
          </a:p>
        </p:txBody>
      </p:sp>
      <p:sp>
        <p:nvSpPr>
          <p:cNvPr id="162" name="Google Shape;162;p18"/>
          <p:cNvSpPr txBox="1"/>
          <p:nvPr/>
        </p:nvSpPr>
        <p:spPr>
          <a:xfrm>
            <a:off x="962025" y="3605212"/>
            <a:ext cx="45529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While RAG remains the current industry standard, a strategic shift is occurring. As models rapidly evolve to handle significantly larger token capacities and advanced reasoning, the foundational methodology of how we feed information into them is shifting towards Context Engineering.</a:t>
            </a:r>
            <a:endParaRPr/>
          </a:p>
        </p:txBody>
      </p:sp>
      <p:sp>
        <p:nvSpPr>
          <p:cNvPr id="163" name="Google Shape;163;p18"/>
          <p:cNvSpPr txBox="1"/>
          <p:nvPr/>
        </p:nvSpPr>
        <p:spPr>
          <a:xfrm>
            <a:off x="6677025" y="3062287"/>
            <a:ext cx="2690336"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2663"/>
                </a:solidFill>
                <a:latin typeface="Poppins SemiBold"/>
                <a:ea typeface="Poppins SemiBold"/>
                <a:cs typeface="Poppins SemiBold"/>
                <a:sym typeface="Poppins SemiBold"/>
              </a:rPr>
              <a:t>Agentic Workflows</a:t>
            </a:r>
            <a:endParaRPr/>
          </a:p>
        </p:txBody>
      </p:sp>
      <p:sp>
        <p:nvSpPr>
          <p:cNvPr id="164" name="Google Shape;164;p18"/>
          <p:cNvSpPr txBox="1"/>
          <p:nvPr/>
        </p:nvSpPr>
        <p:spPr>
          <a:xfrm>
            <a:off x="6677025" y="3605212"/>
            <a:ext cx="45529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D4F53"/>
                </a:solidFill>
                <a:latin typeface="Lato"/>
                <a:ea typeface="Lato"/>
                <a:cs typeface="Lato"/>
                <a:sym typeface="Lato"/>
              </a:rPr>
              <a:t>We are advancing toward Agentic capabilities where models can "reason" before taking action. By integrating technologies like LangGraph, we maintain deterministic, controlled workflows while leveraging LLM logic—creating the perfect balance of automation and human-in-the-loop oversight.</a:t>
            </a:r>
            <a:endParaRPr/>
          </a:p>
        </p:txBody>
      </p:sp>
      <p:pic>
        <p:nvPicPr>
          <p:cNvPr descr="image.png" id="165" name="Google Shape;165;p18"/>
          <p:cNvPicPr preferRelativeResize="0"/>
          <p:nvPr/>
        </p:nvPicPr>
        <p:blipFill rotWithShape="1">
          <a:blip r:embed="rId6">
            <a:alphaModFix/>
          </a:blip>
          <a:srcRect b="0" l="0" r="0" t="0"/>
          <a:stretch/>
        </p:blipFill>
        <p:spPr>
          <a:xfrm>
            <a:off x="962025" y="2328862"/>
            <a:ext cx="514350" cy="457200"/>
          </a:xfrm>
          <a:prstGeom prst="rect">
            <a:avLst/>
          </a:prstGeom>
          <a:noFill/>
          <a:ln>
            <a:noFill/>
          </a:ln>
        </p:spPr>
      </p:pic>
      <p:pic>
        <p:nvPicPr>
          <p:cNvPr descr="image.png" id="166" name="Google Shape;166;p18"/>
          <p:cNvPicPr preferRelativeResize="0"/>
          <p:nvPr/>
        </p:nvPicPr>
        <p:blipFill rotWithShape="1">
          <a:blip r:embed="rId7">
            <a:alphaModFix/>
          </a:blip>
          <a:srcRect b="0" l="0" r="0" t="0"/>
          <a:stretch/>
        </p:blipFill>
        <p:spPr>
          <a:xfrm>
            <a:off x="6677025" y="2328862"/>
            <a:ext cx="571500" cy="457200"/>
          </a:xfrm>
          <a:prstGeom prst="rect">
            <a:avLst/>
          </a:prstGeom>
          <a:noFill/>
          <a:ln>
            <a:noFill/>
          </a:ln>
        </p:spPr>
      </p:pic>
      <p:sp>
        <p:nvSpPr>
          <p:cNvPr id="167" name="Google Shape;167;p18"/>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002663"/>
                </a:solidFill>
                <a:latin typeface="Poppins SemiBold"/>
                <a:ea typeface="Poppins SemiBold"/>
                <a:cs typeface="Poppins SemiBold"/>
                <a:sym typeface="Poppins SemiBold"/>
              </a:rPr>
              <a:t>FUTURE: CONTEXT &amp; AGENTS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