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7CC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1A45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914400"/>
            <a:ext cx="2560320" cy="2560320"/>
          </a:xfrm>
          <a:prstGeom prst="ellipse">
            <a:avLst/>
          </a:prstGeom>
          <a:solidFill>
            <a:srgbClr val="0077CC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1280160"/>
            <a:ext cx="1828800" cy="1828800"/>
          </a:xfrm>
          <a:prstGeom prst="ellipse">
            <a:avLst/>
          </a:prstGeom>
          <a:solidFill>
            <a:srgbClr val="0077C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35240" y="1600200"/>
            <a:ext cx="1188720" cy="1188720"/>
          </a:xfrm>
          <a:prstGeom prst="ellipse">
            <a:avLst/>
          </a:prstGeom>
          <a:solidFill>
            <a:srgbClr val="0077C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8745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9144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Center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Search to Intelligent Automation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7CC">
              <a:alpha val="3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709160"/>
            <a:ext cx="7680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·  Security  ·  Governance  ·  Testing  ·  Agentic Workflows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7C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Manual Search to RAG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the agent experience with Retrieval Augmented Generation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749040" cy="310896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64008" cy="3108960"/>
          </a:xfrm>
          <a:prstGeom prst="rect">
            <a:avLst/>
          </a:prstGeom>
          <a:solidFill>
            <a:srgbClr val="4D4F5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4592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" y="1554480"/>
            <a:ext cx="640080" cy="640080"/>
          </a:xfrm>
          <a:prstGeom prst="ellipse">
            <a:avLst/>
          </a:prstGeom>
          <a:solidFill>
            <a:srgbClr val="4D4F5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459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4F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005840" y="23317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navigation through knowledge portals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multiple articles while customers wait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documents with buried answers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friction for agents and members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54880" y="1417320"/>
            <a:ext cx="3749040" cy="310896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1417320"/>
            <a:ext cx="64008" cy="3108960"/>
          </a:xfrm>
          <a:prstGeom prst="rect">
            <a:avLst/>
          </a:prstGeom>
          <a:solidFill>
            <a:srgbClr val="0077CC"/>
          </a:solidFill>
          <a:ln/>
        </p:spPr>
      </p:sp>
      <p:sp>
        <p:nvSpPr>
          <p:cNvPr id="14" name="Shape 10"/>
          <p:cNvSpPr/>
          <p:nvPr/>
        </p:nvSpPr>
        <p:spPr>
          <a:xfrm>
            <a:off x="4983480" y="1554480"/>
            <a:ext cx="640080" cy="640080"/>
          </a:xfrm>
          <a:prstGeom prst="ellipse">
            <a:avLst/>
          </a:prstGeom>
          <a:solidFill>
            <a:srgbClr val="0077C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6459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0644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— RAG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5120640" y="23317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asks a question via chatbot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concise answers delivered instantly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conversational experience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from search to conversation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697480"/>
            <a:ext cx="36576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20" name="Text 14"/>
          <p:cNvSpPr/>
          <p:nvPr/>
        </p:nvSpPr>
        <p:spPr>
          <a:xfrm>
            <a:off x="64008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RAG Implementation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7C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Governance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trust through data protection and responsible AI deployment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749040" cy="594360"/>
          </a:xfrm>
          <a:prstGeom prst="rect">
            <a:avLst/>
          </a:prstGeom>
          <a:solidFill>
            <a:srgbClr val="0026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813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17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Security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3749040" cy="251460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148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Masking Model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371600" y="2441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data to look authentic while protecting real sensitive information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7180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926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Gateway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371600" y="32186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routed through corporate firewall for complete control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49040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3703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Redaction Paradox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371600" y="3995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detect missing data — masking solves this by preserving logical structure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754880" y="1417320"/>
            <a:ext cx="3749040" cy="594360"/>
          </a:xfrm>
          <a:prstGeom prst="rect">
            <a:avLst/>
          </a:prstGeom>
          <a:solidFill>
            <a:srgbClr val="0077C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481328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40680" y="1417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Trust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4754880" y="2011680"/>
            <a:ext cx="3749040" cy="251460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194560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86400" y="2148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Engagement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5486400" y="2441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Model Governance and Risk teams from day one, not at the end</a:t>
            </a:r>
            <a:endParaRPr lang="en-US" sz="1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971800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86400" y="2926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Disclosures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5486400" y="32186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UI icon for AI-generated content, validated through rigorous audits</a:t>
            </a:r>
            <a:endParaRPr lang="en-US" sz="1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749040"/>
            <a:ext cx="292608" cy="29260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486400" y="3703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Overrides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5486400" y="3995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links to official sources when model confidence is insufficient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32" name="Text 22"/>
          <p:cNvSpPr/>
          <p:nvPr/>
        </p:nvSpPr>
        <p:spPr>
          <a:xfrm>
            <a:off x="64008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Security &amp; Governance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7C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Quality Assurance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rigorous evaluation framework built for the era of generative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468880" cy="292608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1645920"/>
            <a:ext cx="731520" cy="731520"/>
          </a:xfrm>
          <a:prstGeom prst="ellipse">
            <a:avLst/>
          </a:prstGeom>
          <a:solidFill>
            <a:srgbClr val="002663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5603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Golden Set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3611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benchmark Q&amp;A pairs curated with the product team to validate every change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651760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20440" y="1463040"/>
            <a:ext cx="2468880" cy="292608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89120" y="1645920"/>
            <a:ext cx="731520" cy="731520"/>
          </a:xfrm>
          <a:prstGeom prst="ellipse">
            <a:avLst/>
          </a:prstGeom>
          <a:solidFill>
            <a:srgbClr val="002663"/>
          </a:solidFill>
          <a:ln/>
        </p:spPr>
      </p:sp>
      <p:sp>
        <p:nvSpPr>
          <p:cNvPr id="14" name="Text 10"/>
          <p:cNvSpPr/>
          <p:nvPr/>
        </p:nvSpPr>
        <p:spPr>
          <a:xfrm>
            <a:off x="43891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56032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4904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749040" y="3611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RAGAS-based framework measures correctness, faithfulness, and relevance in lower environments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651760"/>
            <a:ext cx="320040" cy="3200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400800" y="1463040"/>
            <a:ext cx="2468880" cy="292608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269480" y="1645920"/>
            <a:ext cx="731520" cy="731520"/>
          </a:xfrm>
          <a:prstGeom prst="ellipse">
            <a:avLst/>
          </a:prstGeom>
          <a:solidFill>
            <a:srgbClr val="002663"/>
          </a:solidFill>
          <a:ln/>
        </p:spPr>
      </p:sp>
      <p:sp>
        <p:nvSpPr>
          <p:cNvPr id="21" name="Text 15"/>
          <p:cNvSpPr/>
          <p:nvPr/>
        </p:nvSpPr>
        <p:spPr>
          <a:xfrm>
            <a:off x="72694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56032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2940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&amp; Iterate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629400" y="3611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failing baseline are rejected and sent back for prompt engineering refinement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26" name="Text 19"/>
          <p:cNvSpPr/>
          <p:nvPr/>
        </p:nvSpPr>
        <p:spPr>
          <a:xfrm>
            <a:off x="64008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Testing Framework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7CC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077C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0077CC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Future: Context Engineering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Agentic Workflows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beyond RAG toward intelligent, reasoning-based automation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749040" cy="2377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783080"/>
            <a:ext cx="3749040" cy="64008"/>
          </a:xfrm>
          <a:prstGeom prst="rect">
            <a:avLst/>
          </a:prstGeom>
          <a:solidFill>
            <a:srgbClr val="0077C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011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25603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models evolve to handle larger token capacities, the strategy shifts from retrieval-based answers to comprehensive context engineering — feeding richer, more structured information for better reasoning.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1783080"/>
            <a:ext cx="3749040" cy="2377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783080"/>
            <a:ext cx="3749040" cy="64008"/>
          </a:xfrm>
          <a:prstGeom prst="rect">
            <a:avLst/>
          </a:prstGeom>
          <a:solidFill>
            <a:srgbClr val="0077C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1168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2011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Workflows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029200" y="25603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LangGraph-based workflows where models reason before acting — maintaining deterministic control while leveraging LLM decision-making. Human-in-the-loop logic ensures safety.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0077CC">
              <a:alpha val="3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443484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balance of automation and human-in-the-loop logic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next frontier for call center modernization.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Call Center Transformation</dc:title>
  <dc:subject>PptxGenJS Presentation</dc:subject>
  <dc:creator>AI Transformation Team</dc:creator>
  <cp:lastModifiedBy>AI Transformation Team</cp:lastModifiedBy>
  <cp:revision>1</cp:revision>
  <dcterms:created xsi:type="dcterms:W3CDTF">2026-04-11T09:34:42Z</dcterms:created>
  <dcterms:modified xsi:type="dcterms:W3CDTF">2026-04-11T09:34:42Z</dcterms:modified>
</cp:coreProperties>
</file>