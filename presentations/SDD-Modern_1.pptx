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743200"/>
            <a:ext cx="3291840" cy="3291840"/>
          </a:xfrm>
          <a:prstGeom prst="ellipse">
            <a:avLst/>
          </a:prstGeom>
          <a:solidFill>
            <a:srgbClr val="1A4A9C">
              <a:alpha val="30000"/>
            </a:srgbClr>
          </a:solidFill>
          <a:ln w="12700">
            <a:solidFill>
              <a:srgbClr val="1A4A9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0" y="-640080"/>
            <a:ext cx="2194560" cy="2194560"/>
          </a:xfrm>
          <a:prstGeom prst="ellipse">
            <a:avLst/>
          </a:prstGeom>
          <a:solidFill>
            <a:srgbClr val="006FCF">
              <a:alpha val="20000"/>
            </a:srgbClr>
          </a:solidFill>
          <a:ln w="12700">
            <a:solidFill>
              <a:srgbClr val="006FC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926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786384"/>
            <a:ext cx="329184" cy="45720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96112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28529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· Iterative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D0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6118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unstructured approach where developers prompt AI models on the fly, relying on intuition and guess-and-check cycles — skipping upfront planning entirely.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69080" y="3474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Vibe Coding Workflow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69080" y="841248"/>
            <a:ext cx="475488" cy="475488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841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45152" y="859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Prompt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45152" y="111556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asks the AI to build functionality. Language, framework, structure — all left to the model's discretion.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69080" y="1719072"/>
            <a:ext cx="4754880" cy="0"/>
          </a:xfrm>
          <a:prstGeom prst="line">
            <a:avLst/>
          </a:prstGeom>
          <a:noFill/>
          <a:ln w="6350">
            <a:solidFill>
              <a:srgbClr val="D0DF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1865376"/>
            <a:ext cx="475488" cy="475488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45152" y="1883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Gen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45152" y="213969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generates code based on training data and best-guess assumptions about what you want.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69080" y="2743200"/>
            <a:ext cx="4754880" cy="0"/>
          </a:xfrm>
          <a:prstGeom prst="line">
            <a:avLst/>
          </a:prstGeom>
          <a:noFill/>
          <a:ln w="6350">
            <a:solidFill>
              <a:srgbClr val="D0DF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9080" y="2889504"/>
            <a:ext cx="475488" cy="475488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2889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45152" y="2907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Edits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45152" y="316382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rarely matches intent. Developer edits the prompt, cycles back and forth, correcting AI guesses.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69080" y="3767328"/>
            <a:ext cx="4754880" cy="0"/>
          </a:xfrm>
          <a:prstGeom prst="line">
            <a:avLst/>
          </a:prstGeom>
          <a:noFill/>
          <a:ln w="6350">
            <a:solidFill>
              <a:srgbClr val="D0DF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69080" y="3913632"/>
            <a:ext cx="475488" cy="475488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9080" y="3913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45152" y="3931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State?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45152" y="418795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Eventually the code approximates what was needed — but a different session may produce entirely different results.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069080" y="4681728"/>
            <a:ext cx="4754880" cy="347472"/>
          </a:xfrm>
          <a:prstGeom prst="rect">
            <a:avLst/>
          </a:prstGeom>
          <a:solidFill>
            <a:srgbClr val="E8F0FB"/>
          </a:solidFill>
          <a:ln w="12700">
            <a:solidFill>
              <a:srgbClr val="D0DF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47183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 single prompt can yield 100+ different implementations — unpredictability is built in.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1A4A9C">
              <a:alpha val="30000"/>
            </a:srgbClr>
          </a:solidFill>
          <a:ln w="12700">
            <a:solidFill>
              <a:srgbClr val="1A4A9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3474720"/>
            <a:ext cx="2560320" cy="2560320"/>
          </a:xfrm>
          <a:prstGeom prst="ellipse">
            <a:avLst/>
          </a:prstGeom>
          <a:solidFill>
            <a:srgbClr val="006FCF">
              <a:alpha val="20000"/>
            </a:srgbClr>
          </a:solidFill>
          <a:ln w="12700">
            <a:solidFill>
              <a:srgbClr val="006FC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2926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0" y="786384"/>
            <a:ext cx="329184" cy="45720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8112" y="896112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68112" y="32186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· Intent-First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D0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68112" y="38404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reintroduces SDLC rigour into AI development — specification first, code second. The spec is the primary artifact: version-controlled, team-debated, and machine-executable.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3474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SDD Workflow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841248"/>
            <a:ext cx="475488" cy="475488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841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8595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Behaviour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111556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LLM to define system behaviour, constraints, and goals. Not code — structured intent.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1719072"/>
            <a:ext cx="4572000" cy="0"/>
          </a:xfrm>
          <a:prstGeom prst="line">
            <a:avLst/>
          </a:prstGeom>
          <a:noFill/>
          <a:ln w="6350">
            <a:solidFill>
              <a:srgbClr val="D0DF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1865376"/>
            <a:ext cx="475488" cy="475488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18836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Contract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213969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produces a specification document. This becomes the strict contract governing the entire project.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2743200"/>
            <a:ext cx="4572000" cy="0"/>
          </a:xfrm>
          <a:prstGeom prst="line">
            <a:avLst/>
          </a:prstGeom>
          <a:noFill/>
          <a:ln w="6350">
            <a:solidFill>
              <a:srgbClr val="D0DF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889504"/>
            <a:ext cx="475488" cy="475488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889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29077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316382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review for logic, architecture, and business alignment. No code written until approved.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" y="3767328"/>
            <a:ext cx="4572000" cy="0"/>
          </a:xfrm>
          <a:prstGeom prst="line">
            <a:avLst/>
          </a:prstGeom>
          <a:noFill/>
          <a:ln w="6350">
            <a:solidFill>
              <a:srgbClr val="D0DF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913632"/>
            <a:ext cx="475488" cy="475488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913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" y="39319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 Implement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2688" y="418795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now write code, tests, and docs — executing a well-defined blueprint with zero ambiguity.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4681728"/>
            <a:ext cx="4572000" cy="347472"/>
          </a:xfrm>
          <a:prstGeom prst="rect">
            <a:avLst/>
          </a:prstGeom>
          <a:solidFill>
            <a:srgbClr val="E6F4EA"/>
          </a:solidFill>
          <a:ln w="12700">
            <a:solidFill>
              <a:srgbClr val="A8D5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47183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Specification is treated exactly like code: version-controlled, debated, and used to detect logical collisions.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1A4A9C">
              <a:alpha val="25000"/>
            </a:srgbClr>
          </a:solidFill>
          <a:ln w="12700">
            <a:solidFill>
              <a:srgbClr val="1A4A9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-914400"/>
            <a:ext cx="2194560" cy="2194560"/>
          </a:xfrm>
          <a:prstGeom prst="ellipse">
            <a:avLst/>
          </a:prstGeom>
          <a:solidFill>
            <a:srgbClr val="1A4A9C">
              <a:alpha val="20000"/>
            </a:srgbClr>
          </a:solidFill>
          <a:ln w="12700">
            <a:solidFill>
              <a:srgbClr val="1A4A9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Comparison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0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decisions are made — and who makes them — is everything.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463040"/>
            <a:ext cx="3840480" cy="457200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19472" y="146304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993392"/>
            <a:ext cx="8375904" cy="420624"/>
          </a:xfrm>
          <a:prstGeom prst="rect">
            <a:avLst/>
          </a:prstGeom>
          <a:solidFill>
            <a:srgbClr val="003070"/>
          </a:solidFill>
          <a:ln w="12700">
            <a:solidFill>
              <a:srgbClr val="003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482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37360" y="20482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 immediately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89120" y="2066544"/>
            <a:ext cx="0" cy="274320"/>
          </a:xfrm>
          <a:prstGeom prst="line">
            <a:avLst/>
          </a:prstGeom>
          <a:noFill/>
          <a:ln w="9525">
            <a:solidFill>
              <a:srgbClr val="006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0482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specification first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414016"/>
            <a:ext cx="8375904" cy="420624"/>
          </a:xfrm>
          <a:prstGeom prst="rect">
            <a:avLst/>
          </a:prstGeom>
          <a:solidFill>
            <a:srgbClr val="002A60"/>
          </a:solidFill>
          <a:ln w="12700">
            <a:solidFill>
              <a:srgbClr val="002A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688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37360" y="2468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itself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0" y="2487168"/>
            <a:ext cx="0" cy="274320"/>
          </a:xfrm>
          <a:prstGeom prst="line">
            <a:avLst/>
          </a:prstGeom>
          <a:noFill/>
          <a:ln w="9525">
            <a:solidFill>
              <a:srgbClr val="006F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24688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2834640"/>
            <a:ext cx="8375904" cy="420624"/>
          </a:xfrm>
          <a:prstGeom prst="rect">
            <a:avLst/>
          </a:prstGeom>
          <a:solidFill>
            <a:srgbClr val="003070"/>
          </a:solidFill>
          <a:ln w="12700">
            <a:solidFill>
              <a:srgbClr val="003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8895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737360" y="288950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guesses based on training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89120" y="2907792"/>
            <a:ext cx="0" cy="274320"/>
          </a:xfrm>
          <a:prstGeom prst="line">
            <a:avLst/>
          </a:prstGeom>
          <a:noFill/>
          <a:ln w="9525">
            <a:solidFill>
              <a:srgbClr val="006F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28895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defined upfront by engineers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3255264"/>
            <a:ext cx="8375904" cy="420624"/>
          </a:xfrm>
          <a:prstGeom prst="rect">
            <a:avLst/>
          </a:prstGeom>
          <a:solidFill>
            <a:srgbClr val="002A60"/>
          </a:solidFill>
          <a:ln w="12700">
            <a:solidFill>
              <a:srgbClr val="002A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3101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Coverage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737360" y="33101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planning &amp; design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89120" y="3328416"/>
            <a:ext cx="0" cy="274320"/>
          </a:xfrm>
          <a:prstGeom prst="line">
            <a:avLst/>
          </a:prstGeom>
          <a:noFill/>
          <a:ln w="9525">
            <a:solidFill>
              <a:srgbClr val="006F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33101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PRD → Design → Build → QA → Deploy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" y="3675888"/>
            <a:ext cx="8375904" cy="420624"/>
          </a:xfrm>
          <a:prstGeom prst="rect">
            <a:avLst/>
          </a:prstGeom>
          <a:solidFill>
            <a:srgbClr val="003070"/>
          </a:solidFill>
          <a:ln w="12700">
            <a:solidFill>
              <a:srgbClr val="0030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7307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737360" y="37307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implementations per prompt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0" y="3749040"/>
            <a:ext cx="0" cy="274320"/>
          </a:xfrm>
          <a:prstGeom prst="line">
            <a:avLst/>
          </a:prstGeom>
          <a:noFill/>
          <a:ln w="9525">
            <a:solidFill>
              <a:srgbClr val="006F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37307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agreed blueprint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4048" y="4096512"/>
            <a:ext cx="8375904" cy="420624"/>
          </a:xfrm>
          <a:prstGeom prst="rect">
            <a:avLst/>
          </a:prstGeom>
          <a:solidFill>
            <a:srgbClr val="002A60"/>
          </a:solidFill>
          <a:ln w="12700">
            <a:solidFill>
              <a:srgbClr val="002A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1513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Role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737360" y="41513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— fixing AI guesses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389120" y="4169664"/>
            <a:ext cx="0" cy="274320"/>
          </a:xfrm>
          <a:prstGeom prst="line">
            <a:avLst/>
          </a:prstGeom>
          <a:noFill/>
          <a:ln w="9525">
            <a:solidFill>
              <a:srgbClr val="006FC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1513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— steering agents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4048" y="4517136"/>
            <a:ext cx="8375904" cy="420624"/>
          </a:xfrm>
          <a:prstGeom prst="rect">
            <a:avLst/>
          </a:prstGeom>
          <a:solidFill>
            <a:srgbClr val="003070"/>
          </a:solidFill>
          <a:ln w="12700">
            <a:solidFill>
              <a:srgbClr val="0030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5720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737360" y="45720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prototypes, risky at scale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89120" y="4590288"/>
            <a:ext cx="0" cy="274320"/>
          </a:xfrm>
          <a:prstGeom prst="line">
            <a:avLst/>
          </a:prstGeom>
          <a:noFill/>
          <a:ln w="9525">
            <a:solidFill>
              <a:srgbClr val="006FC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26280" y="45720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enterprise-grade delivery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187952" y="1536192"/>
            <a:ext cx="768096" cy="768096"/>
          </a:xfrm>
          <a:prstGeom prst="ellipse">
            <a:avLst/>
          </a:prstGeom>
          <a:solidFill>
            <a:srgbClr val="002663"/>
          </a:solidFill>
          <a:ln w="19050">
            <a:solidFill>
              <a:srgbClr val="006FC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87952" y="1536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468880" y="2560320"/>
            <a:ext cx="4023360" cy="4023360"/>
          </a:xfrm>
          <a:prstGeom prst="ellipse">
            <a:avLst/>
          </a:prstGeom>
          <a:solidFill>
            <a:srgbClr val="1A4A9C">
              <a:alpha val="30000"/>
            </a:srgbClr>
          </a:solidFill>
          <a:ln w="12700">
            <a:solidFill>
              <a:srgbClr val="1A4A9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-731520"/>
            <a:ext cx="2560320" cy="2560320"/>
          </a:xfrm>
          <a:prstGeom prst="ellipse">
            <a:avLst/>
          </a:prstGeom>
          <a:solidFill>
            <a:srgbClr val="006FCF">
              <a:alpha val="25000"/>
            </a:srgbClr>
          </a:solidFill>
          <a:ln w="12700">
            <a:solidFill>
              <a:srgbClr val="006FCF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926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Engineers?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345643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AI reshapes the development lifecycle, the hardest part of engineering is no longer writing code — it is conveying structured intent to AI agents at scale.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06440" y="384048"/>
            <a:ext cx="3017520" cy="1389888"/>
          </a:xfrm>
          <a:prstGeom prst="rect">
            <a:avLst/>
          </a:prstGeom>
          <a:solidFill>
            <a:srgbClr val="E8F0FB"/>
          </a:solidFill>
          <a:ln w="12700">
            <a:solidFill>
              <a:srgbClr val="D0DF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06440" y="384048"/>
            <a:ext cx="3017520" cy="54864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49377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engineers validate what AI builds?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00584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quality assessment of AI outputs is now a non-negotiable engineering skill.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38528"/>
            <a:ext cx="3017520" cy="1389888"/>
          </a:xfrm>
          <a:prstGeom prst="rect">
            <a:avLst/>
          </a:prstGeom>
          <a:solidFill>
            <a:srgbClr val="E8F0FB"/>
          </a:solidFill>
          <a:ln w="12700">
            <a:solidFill>
              <a:srgbClr val="D0DF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1938528"/>
            <a:ext cx="3017520" cy="54864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04825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architectural decisions?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256032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once implicit in code must now be explicit in specs — version-controlled and team-debated.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06440" y="3493008"/>
            <a:ext cx="3017520" cy="1389888"/>
          </a:xfrm>
          <a:prstGeom prst="rect">
            <a:avLst/>
          </a:prstGeom>
          <a:solidFill>
            <a:srgbClr val="E8F0FB"/>
          </a:solidFill>
          <a:ln w="12700">
            <a:solidFill>
              <a:srgbClr val="D0DF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3493008"/>
            <a:ext cx="3017520" cy="54864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36027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engineer's new role?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411480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solo coder to orchestrator of AI agent systems — managing asynchronous agents in parallel.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06440" y="48280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answers redefine what it means to be an engineer in the AI era.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2743200"/>
            <a:ext cx="5120640" cy="5120640"/>
          </a:xfrm>
          <a:prstGeom prst="ellipse">
            <a:avLst/>
          </a:prstGeom>
          <a:solidFill>
            <a:srgbClr val="1A4A9C">
              <a:alpha val="25000"/>
            </a:srgbClr>
          </a:solidFill>
          <a:ln w="12700">
            <a:solidFill>
              <a:srgbClr val="1A4A9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-1645920"/>
            <a:ext cx="2743200" cy="2743200"/>
          </a:xfrm>
          <a:prstGeom prst="ellipse">
            <a:avLst/>
          </a:prstGeom>
          <a:solidFill>
            <a:srgbClr val="1A4A9C">
              <a:alpha val="20000"/>
            </a:srgbClr>
          </a:solidFill>
          <a:ln w="12700">
            <a:solidFill>
              <a:srgbClr val="1A4A9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Critical Shifts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0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era is fundamentally redefining the engineer's role — from Google's evolved T-shaped model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444752"/>
            <a:ext cx="4041648" cy="1719072"/>
          </a:xfrm>
          <a:prstGeom prst="rect">
            <a:avLst/>
          </a:prstGeom>
          <a:solidFill>
            <a:srgbClr val="003285"/>
          </a:solidFill>
          <a:ln w="12700">
            <a:solidFill>
              <a:srgbClr val="0040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444752"/>
            <a:ext cx="91440" cy="1719072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3619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1938528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AI Constraints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286000"/>
            <a:ext cx="3767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 model limitations within task-specific contexts is non-negotiable. Engineers must reliably assess output quality, know when to trust the model, when to challenge it, and how to steer it toward correct results.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444752"/>
            <a:ext cx="4041648" cy="1719072"/>
          </a:xfrm>
          <a:prstGeom prst="rect">
            <a:avLst/>
          </a:prstGeom>
          <a:solidFill>
            <a:srgbClr val="003285"/>
          </a:solidFill>
          <a:ln w="12700">
            <a:solidFill>
              <a:srgbClr val="0040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444752"/>
            <a:ext cx="91440" cy="1719072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3619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46320" y="1938528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Coder → Orchestrator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286000"/>
            <a:ext cx="3767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no longer prompt one assistant — they orchestrate teams of asynchronous AI agents: planner, orchestrator, and coder agents, each with distinct responsibilities and context windows working toward a shared goal.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3346704"/>
            <a:ext cx="4041648" cy="1719072"/>
          </a:xfrm>
          <a:prstGeom prst="rect">
            <a:avLst/>
          </a:prstGeom>
          <a:solidFill>
            <a:srgbClr val="003285"/>
          </a:solidFill>
          <a:ln w="12700">
            <a:solidFill>
              <a:srgbClr val="0040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3346704"/>
            <a:ext cx="91440" cy="1719072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3814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66928" y="3840480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4187952"/>
            <a:ext cx="3767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codify team practices, style guidelines, and institutional knowledge into skill files and rule files — providing agents with the precise recipes they need, moving tacit knowledge into machine-readable context.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3346704"/>
            <a:ext cx="4041648" cy="1719072"/>
          </a:xfrm>
          <a:prstGeom prst="rect">
            <a:avLst/>
          </a:prstGeom>
          <a:solidFill>
            <a:srgbClr val="003285"/>
          </a:solidFill>
          <a:ln w="12700">
            <a:solidFill>
              <a:srgbClr val="0040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346704"/>
            <a:ext cx="91440" cy="1719072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43814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846320" y="3840480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 &amp; Judgment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4187952"/>
            <a:ext cx="3767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agents handle the how of coding, engineers operate at higher altitude: deploying adversarial review agents, analysing decision traces on failure, and applying human judgment on when to delegate and what trade-offs to make.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4048" y="4828032"/>
            <a:ext cx="8375904" cy="219456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shifts ensure engineers harness AI's massive velocity without generating catastrophic technical debt.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57800" y="0"/>
            <a:ext cx="38862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926080"/>
            <a:ext cx="3657600" cy="3657600"/>
          </a:xfrm>
          <a:prstGeom prst="ellipse">
            <a:avLst/>
          </a:prstGeom>
          <a:solidFill>
            <a:srgbClr val="1A4A9C">
              <a:alpha val="25000"/>
            </a:srgbClr>
          </a:solidFill>
          <a:ln w="12700">
            <a:solidFill>
              <a:srgbClr val="1A4A9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-914400"/>
            <a:ext cx="2377440" cy="2377440"/>
          </a:xfrm>
          <a:prstGeom prst="ellipse">
            <a:avLst/>
          </a:prstGeom>
          <a:solidFill>
            <a:srgbClr val="006FCF">
              <a:alpha val="20000"/>
            </a:srgbClr>
          </a:solidFill>
          <a:ln w="12700">
            <a:solidFill>
              <a:srgbClr val="006FC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Truth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1480" y="285292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Code to Specification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engineering is not about writing less code — it is about exercising better judgment at a higher altitude.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2926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0" y="804672"/>
            <a:ext cx="3474720" cy="1261872"/>
          </a:xfrm>
          <a:prstGeom prst="rect">
            <a:avLst/>
          </a:prstGeom>
          <a:solidFill>
            <a:srgbClr val="E8F0FB"/>
          </a:solidFill>
          <a:ln w="12700">
            <a:solidFill>
              <a:srgbClr val="D0DF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94960" y="804672"/>
            <a:ext cx="73152" cy="1261872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89611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is the new source of truth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1225296"/>
            <a:ext cx="3154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Version-controlled, team-debated specs replace code as the primary artifact — used to detect logical collisions before implementation.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2212848"/>
            <a:ext cx="3474720" cy="1261872"/>
          </a:xfrm>
          <a:prstGeom prst="rect">
            <a:avLst/>
          </a:prstGeom>
          <a:solidFill>
            <a:srgbClr val="E8F0FB"/>
          </a:solidFill>
          <a:ln w="12700">
            <a:solidFill>
              <a:srgbClr val="D0DF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2212848"/>
            <a:ext cx="73152" cy="1261872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30428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as orchestrators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77840" y="2633472"/>
            <a:ext cx="3154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design systems of AI agents, codify institutional knowledge into skill files, and apply taste and judgment at scale.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3621024"/>
            <a:ext cx="3474720" cy="1261872"/>
          </a:xfrm>
          <a:prstGeom prst="rect">
            <a:avLst/>
          </a:prstGeom>
          <a:solidFill>
            <a:srgbClr val="E8F0FB"/>
          </a:solidFill>
          <a:ln w="12700">
            <a:solidFill>
              <a:srgbClr val="D0DF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0" y="3621024"/>
            <a:ext cx="73152" cy="1261872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71246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without debt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4041648"/>
            <a:ext cx="3154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specs + orchestrated agents + AI expertise layer = AI's massive velocity harnessed without catastrophic technical debt.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169664"/>
            <a:ext cx="4480560" cy="0"/>
          </a:xfrm>
          <a:prstGeom prst="line">
            <a:avLst/>
          </a:prstGeom>
          <a:noFill/>
          <a:ln w="9525">
            <a:solidFill>
              <a:srgbClr val="006F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2611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· AI-Era Engineering ·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Vibe Coding to Spec-Driven Development</dc:title>
  <dc:subject>PptxGenJS Presentation</dc:subject>
  <dc:creator>PptxGenJS</dc:creator>
  <cp:lastModifiedBy>PptxGenJS</cp:lastModifiedBy>
  <cp:revision>1</cp:revision>
  <dcterms:created xsi:type="dcterms:W3CDTF">2026-06-06T21:40:04Z</dcterms:created>
  <dcterms:modified xsi:type="dcterms:W3CDTF">2026-06-06T21:40:04Z</dcterms:modified>
</cp:coreProperties>
</file>