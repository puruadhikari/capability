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73152"/>
          </a:xfrm>
          <a:prstGeom prst="rect">
            <a:avLst/>
          </a:prstGeom>
          <a:solidFill>
            <a:srgbClr val="0070E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73152"/>
          </a:xfrm>
          <a:prstGeom prst="rect">
            <a:avLst/>
          </a:prstGeom>
          <a:solidFill>
            <a:srgbClr val="0070E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MODERNIZING THE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CENTER WITH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7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RAG to Agentic Workflows — A Practitioner's Journey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2286000" cy="36576"/>
          </a:xfrm>
          <a:prstGeom prst="rect">
            <a:avLst/>
          </a:prstGeom>
          <a:solidFill>
            <a:srgbClr val="0070E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rgbClr val="0070E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Manual Search to RAG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agent experience with intelligent retrieval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Data Redaction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masking for sensitive enterprise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as an Enabler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944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Transparency, safety overrides, and compliance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457200" cy="45720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Framework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630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evaluation and quality assurance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457200" cy="457200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Future: Context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and next-generation 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0" y="457200"/>
            <a:ext cx="54864" cy="4114800"/>
          </a:xfrm>
          <a:prstGeom prst="rect">
            <a:avLst/>
          </a:prstGeom>
          <a:solidFill>
            <a:srgbClr val="0070E0">
              <a:alpha val="7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MANUAL 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57600" cy="29260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73152" cy="292608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2860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manually navigated knowledge portals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through multiple dense articles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waited on hold for answers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 process with significant friction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749040" cy="29260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73152" cy="292608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91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— RAG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20640" y="22860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ask questions via chatbot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concise answers delivered instantly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 Generation (RAG)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conversational experience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617720"/>
            <a:ext cx="7863840" cy="36576"/>
          </a:xfrm>
          <a:prstGeom prst="rect">
            <a:avLst/>
          </a:prstGeom>
          <a:solidFill>
            <a:srgbClr val="0070E0">
              <a:alpha val="4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from search-and-find to a streamlined conversation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SECURITY: DATA REDACTION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14630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374904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REDACTION PARADOX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redaction failed — models recognized missing data and refused to process it. Blacked-out fields made the AI say "I can't tell you."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749040" cy="14630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371600"/>
            <a:ext cx="374904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MASKING MODEL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formatted to look real to the model (fake phone numbers, names) — preserving logic without exposing sensitive information.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3749040"/>
            <a:ext cx="1371600" cy="5029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3749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Query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3886200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331720" y="3749040"/>
            <a:ext cx="1371600" cy="502920"/>
          </a:xfrm>
          <a:prstGeom prst="rect">
            <a:avLst/>
          </a:prstGeom>
          <a:solidFill>
            <a:srgbClr val="0070E0"/>
          </a:solidFill>
          <a:ln/>
        </p:spPr>
      </p:sp>
      <p:sp>
        <p:nvSpPr>
          <p:cNvPr id="20" name="Text 15"/>
          <p:cNvSpPr/>
          <p:nvPr/>
        </p:nvSpPr>
        <p:spPr>
          <a:xfrm>
            <a:off x="2331720" y="3749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Masking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3886200"/>
            <a:ext cx="182880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023360" y="3749040"/>
            <a:ext cx="1371600" cy="5029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23" name="Text 17"/>
          <p:cNvSpPr/>
          <p:nvPr/>
        </p:nvSpPr>
        <p:spPr>
          <a:xfrm>
            <a:off x="4023360" y="3749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Gateway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3886200"/>
            <a:ext cx="182880" cy="18288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715000" y="3749040"/>
            <a:ext cx="1371600" cy="502920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26" name="Text 19"/>
          <p:cNvSpPr/>
          <p:nvPr/>
        </p:nvSpPr>
        <p:spPr>
          <a:xfrm>
            <a:off x="5715000" y="3749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Firewall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388620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406640" y="3749040"/>
            <a:ext cx="1371600" cy="502920"/>
          </a:xfrm>
          <a:prstGeom prst="rect">
            <a:avLst/>
          </a:prstGeom>
          <a:solidFill>
            <a:srgbClr val="0070E0"/>
          </a:solidFill>
          <a:ln/>
        </p:spPr>
      </p:sp>
      <p:sp>
        <p:nvSpPr>
          <p:cNvPr id="29" name="Text 21"/>
          <p:cNvSpPr/>
          <p:nvPr/>
        </p:nvSpPr>
        <p:spPr>
          <a:xfrm>
            <a:off x="7406640" y="3749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E8F0FE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61772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34440" y="4526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Partner with enterprise security teams from day 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GOVERNANCE: BLOCKER TO ENABLER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468880" cy="30175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46888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7" name="Shape 5"/>
          <p:cNvSpPr/>
          <p:nvPr/>
        </p:nvSpPr>
        <p:spPr>
          <a:xfrm>
            <a:off x="1577340" y="169164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80136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ENGAGEMENT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9260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Model Governance and Risk teams immediately. Collect evidence and documentation during development — not after.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468880" cy="30175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71600"/>
            <a:ext cx="2468880" cy="54864"/>
          </a:xfrm>
          <a:prstGeom prst="rect">
            <a:avLst/>
          </a:prstGeom>
          <a:solidFill>
            <a:srgbClr val="007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0540" y="169164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0136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11880" y="29260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includes a specific icon to notify users that answers are AI-generated. Went through rigorous audit reviews for compliance.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371600"/>
            <a:ext cx="2468880" cy="30175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371600"/>
            <a:ext cx="246888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19" name="Shape 15"/>
          <p:cNvSpPr/>
          <p:nvPr/>
        </p:nvSpPr>
        <p:spPr>
          <a:xfrm>
            <a:off x="7063740" y="169164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0136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OVERRIDES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29260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products where hallucination risk is high, the system provides direct links to official sources instead of generated summaries.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663440"/>
            <a:ext cx="7863840" cy="36576"/>
          </a:xfrm>
          <a:prstGeom prst="rect">
            <a:avLst/>
          </a:prstGeom>
          <a:solidFill>
            <a:srgbClr val="0070E0">
              <a:alpha val="4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treated as an enabler ensures 100% accuracy on critical 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TESTING: THE GOLDEN 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PROCESS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56232"/>
            <a:ext cx="347472" cy="347472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Golden Set of 100 benchmark Q&amp;A pairs with product team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450592"/>
            <a:ext cx="347472" cy="347472"/>
          </a:xfrm>
          <a:prstGeom prst="ellipse">
            <a:avLst/>
          </a:prstGeom>
          <a:solidFill>
            <a:srgbClr val="0070E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RAGAS metrics for automated answer evaluation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44952"/>
            <a:ext cx="347472" cy="347472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Golden Set in lower environments on every update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639312"/>
            <a:ext cx="347472" cy="347472"/>
          </a:xfrm>
          <a:prstGeom prst="ellipse">
            <a:avLst/>
          </a:prstGeom>
          <a:solidFill>
            <a:srgbClr val="0070E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to established baseline threshold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233672"/>
            <a:ext cx="347472" cy="347472"/>
          </a:xfrm>
          <a:prstGeom prst="ellipse">
            <a:avLst/>
          </a:prstGeom>
          <a:solidFill>
            <a:srgbClr val="00266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206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updates that fall below baseline — iterate on prompts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325880"/>
            <a:ext cx="3474720" cy="3383280"/>
          </a:xfrm>
          <a:prstGeom prst="rect">
            <a:avLst/>
          </a:prstGeom>
          <a:solidFill>
            <a:srgbClr val="00266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4592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0352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30352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GenAI, you must move beyond traditional testing and find innovative ways to measure "correctness."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035040" y="3840480"/>
            <a:ext cx="1097280" cy="36576"/>
          </a:xfrm>
          <a:prstGeom prst="rect">
            <a:avLst/>
          </a:prstGeom>
          <a:solidFill>
            <a:srgbClr val="0070E0"/>
          </a:solidFill>
          <a:ln/>
        </p:spPr>
      </p:sp>
      <p:sp>
        <p:nvSpPr>
          <p:cNvPr id="26" name="Text 23"/>
          <p:cNvSpPr/>
          <p:nvPr/>
        </p:nvSpPr>
        <p:spPr>
          <a:xfrm>
            <a:off x="530352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acts as the quality gate for every prompt change and model version update.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FUTURE: CONTEXT ENGINEERING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ROADMAP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6400800" cy="36576"/>
          </a:xfrm>
          <a:prstGeom prst="rect">
            <a:avLst/>
          </a:prstGeom>
          <a:solidFill>
            <a:srgbClr val="0070E0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901952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193852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F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portals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11880" y="1901952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93852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91840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standard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32120" y="1901952"/>
            <a:ext cx="256032" cy="256032"/>
          </a:xfrm>
          <a:prstGeom prst="ellipse">
            <a:avLst/>
          </a:prstGeom>
          <a:solidFill>
            <a:srgbClr val="0070E0"/>
          </a:solidFill>
          <a:ln/>
        </p:spPr>
      </p:sp>
      <p:sp>
        <p:nvSpPr>
          <p:cNvPr id="16" name="Text 12"/>
          <p:cNvSpPr/>
          <p:nvPr/>
        </p:nvSpPr>
        <p:spPr>
          <a:xfrm>
            <a:off x="52120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212080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token windows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452360" y="1901952"/>
            <a:ext cx="256032" cy="256032"/>
          </a:xfrm>
          <a:prstGeom prst="ellipse">
            <a:avLst/>
          </a:prstGeom>
          <a:solidFill>
            <a:srgbClr val="0070E0"/>
          </a:solidFill>
          <a:ln/>
        </p:spPr>
      </p:sp>
      <p:sp>
        <p:nvSpPr>
          <p:cNvPr id="19" name="Text 15"/>
          <p:cNvSpPr/>
          <p:nvPr/>
        </p:nvSpPr>
        <p:spPr>
          <a:xfrm>
            <a:off x="713232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132320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workflows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0080" y="3017520"/>
            <a:ext cx="374904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3017520"/>
            <a:ext cx="73152" cy="1828800"/>
          </a:xfrm>
          <a:prstGeom prst="rect">
            <a:avLst/>
          </a:prstGeom>
          <a:solidFill>
            <a:srgbClr val="0070E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0040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960120" y="3657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models evolve to handle larger token capacities and enhanced reasoning, the way we feed information to them is fundamentally changing. RAG is giving way to richer context strategies.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754880" y="3017520"/>
            <a:ext cx="374904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017520"/>
            <a:ext cx="73152" cy="1828800"/>
          </a:xfrm>
          <a:prstGeom prst="rect">
            <a:avLst/>
          </a:prstGeom>
          <a:solidFill>
            <a:srgbClr val="00266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0040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Workflows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074920" y="3657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LangGraph for deterministic, controlled workflows while leveraging LLM reasoning. Balancing automation with human-in-the-loop logic is the next frontier.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6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0026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533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Transforms Agent Experience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manual search to intelligent retrieval for immediate, accurate answers.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938528"/>
            <a:ext cx="78638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029968"/>
            <a:ext cx="457200" cy="457200"/>
          </a:xfrm>
          <a:prstGeom prst="ellipse">
            <a:avLst/>
          </a:prstGeom>
          <a:solidFill>
            <a:srgbClr val="0070E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0312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84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Requires Innovation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2258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masking models outperform standard redaction for enterprise-grade protection.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688336"/>
            <a:ext cx="78638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2779776"/>
            <a:ext cx="457200" cy="457200"/>
          </a:xfrm>
          <a:prstGeom prst="ellipse">
            <a:avLst/>
          </a:prstGeom>
          <a:solidFill>
            <a:srgbClr val="00266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529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734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Is an Enabler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3008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engagement with risk teams and built-in transparency accelerate deployment.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438144"/>
            <a:ext cx="78638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3529584"/>
            <a:ext cx="457200" cy="457200"/>
          </a:xfrm>
          <a:prstGeom prst="ellipse">
            <a:avLst/>
          </a:prstGeom>
          <a:solidFill>
            <a:srgbClr val="0070E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60273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483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Beyond Traditional Methods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00200" y="37581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Sets and RAGAS metrics provide the quality gates GenAI demands.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187952"/>
            <a:ext cx="7863840" cy="6400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5" name="Shape 19"/>
          <p:cNvSpPr/>
          <p:nvPr/>
        </p:nvSpPr>
        <p:spPr>
          <a:xfrm>
            <a:off x="914400" y="4279392"/>
            <a:ext cx="457200" cy="457200"/>
          </a:xfrm>
          <a:prstGeom prst="ellipse">
            <a:avLst/>
          </a:prstGeom>
          <a:solidFill>
            <a:srgbClr val="00266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35254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233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for the Agentic Future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00200" y="4507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and controlled agentic workflows are the next frontier.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73152"/>
          </a:xfrm>
          <a:prstGeom prst="rect">
            <a:avLst/>
          </a:prstGeom>
          <a:solidFill>
            <a:srgbClr val="0070E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828800" cy="36576"/>
          </a:xfrm>
          <a:prstGeom prst="rect">
            <a:avLst/>
          </a:prstGeom>
          <a:solidFill>
            <a:srgbClr val="0070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7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Modernizing the Call Center with Generative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the Call Center with GenAI</dc:title>
  <dc:subject>PptxGenJS Presentation</dc:subject>
  <dc:creator>AI Strategy Team</dc:creator>
  <cp:lastModifiedBy>AI Strategy Team</cp:lastModifiedBy>
  <cp:revision>1</cp:revision>
  <dcterms:created xsi:type="dcterms:W3CDTF">2026-04-11T09:50:01Z</dcterms:created>
  <dcterms:modified xsi:type="dcterms:W3CDTF">2026-04-11T09:50:01Z</dcterms:modified>
</cp:coreProperties>
</file>